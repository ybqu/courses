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3" r:id="rId2"/>
    <p:sldId id="287" r:id="rId3"/>
    <p:sldId id="256" r:id="rId4"/>
    <p:sldId id="3899" r:id="rId5"/>
    <p:sldId id="415" r:id="rId6"/>
    <p:sldId id="271" r:id="rId7"/>
    <p:sldId id="266" r:id="rId8"/>
    <p:sldId id="3907" r:id="rId9"/>
    <p:sldId id="371" r:id="rId10"/>
    <p:sldId id="3920" r:id="rId11"/>
    <p:sldId id="3930" r:id="rId12"/>
    <p:sldId id="3931" r:id="rId13"/>
    <p:sldId id="3928" r:id="rId14"/>
    <p:sldId id="3926" r:id="rId15"/>
    <p:sldId id="3929" r:id="rId16"/>
    <p:sldId id="3895" r:id="rId17"/>
    <p:sldId id="3910" r:id="rId18"/>
    <p:sldId id="417" r:id="rId19"/>
    <p:sldId id="3902" r:id="rId20"/>
    <p:sldId id="411" r:id="rId21"/>
    <p:sldId id="3927" r:id="rId22"/>
    <p:sldId id="3923" r:id="rId23"/>
    <p:sldId id="3924" r:id="rId24"/>
    <p:sldId id="3925" r:id="rId25"/>
    <p:sldId id="3912" r:id="rId26"/>
    <p:sldId id="3906" r:id="rId27"/>
    <p:sldId id="3916" r:id="rId28"/>
    <p:sldId id="375" r:id="rId29"/>
    <p:sldId id="39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F71A8AC-99A7-4D9E-9BFB-C5A1665E7C40}">
          <p14:sldIdLst>
            <p14:sldId id="263"/>
          </p14:sldIdLst>
        </p14:section>
        <p14:section name="成语古诗文检错" id="{BC3E73C4-B573-4476-9C9F-71ED0670EF71}">
          <p14:sldIdLst/>
        </p14:section>
        <p14:section name="题库场景通用离题检测" id="{5A3E1478-A2F5-4CB6-89E6-0AAF56DDF4E0}">
          <p14:sldIdLst/>
        </p14:section>
        <p14:section name="标题-正文匹配(通用)" id="{6F12CF37-0551-4F93-A88A-68B67F64A1AA}">
          <p14:sldIdLst>
            <p14:sldId id="287"/>
            <p14:sldId id="256"/>
            <p14:sldId id="3899"/>
            <p14:sldId id="415"/>
            <p14:sldId id="271"/>
            <p14:sldId id="266"/>
            <p14:sldId id="3907"/>
            <p14:sldId id="371"/>
            <p14:sldId id="3920"/>
            <p14:sldId id="3930"/>
            <p14:sldId id="3931"/>
            <p14:sldId id="3928"/>
            <p14:sldId id="3926"/>
            <p14:sldId id="3929"/>
            <p14:sldId id="3895"/>
            <p14:sldId id="3910"/>
            <p14:sldId id="417"/>
            <p14:sldId id="3902"/>
            <p14:sldId id="411"/>
            <p14:sldId id="3927"/>
            <p14:sldId id="3923"/>
            <p14:sldId id="3924"/>
            <p14:sldId id="3925"/>
            <p14:sldId id="3912"/>
            <p14:sldId id="3906"/>
            <p14:sldId id="3916"/>
            <p14:sldId id="375"/>
            <p14:sldId id="399"/>
          </p14:sldIdLst>
        </p14:section>
        <p14:section name="方案图-修改" id="{3DFB9E55-1B20-4B07-B3A4-C2B97AF4A7FC}">
          <p14:sldIdLst/>
        </p14:section>
      </p14:sectionLst>
    </p:ex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605" userDrawn="1">
          <p15:clr>
            <a:srgbClr val="A4A3A4"/>
          </p15:clr>
        </p15:guide>
        <p15:guide id="3" orient="horz" pos="100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521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4472C4"/>
    <a:srgbClr val="D9D9D9"/>
    <a:srgbClr val="F5CDCD"/>
    <a:srgbClr val="CCD9F8"/>
    <a:srgbClr val="FDDB60"/>
    <a:srgbClr val="DAE9D5"/>
    <a:srgbClr val="CAD8FB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18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" y="474"/>
      </p:cViewPr>
      <p:guideLst>
        <p:guide pos="416"/>
        <p:guide pos="7605"/>
        <p:guide orient="horz" pos="1003"/>
        <p:guide orient="horz" pos="712"/>
        <p:guide orient="horz" pos="3521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uxiansen\Desktop\&#31163;&#39064;&#26816;&#27979;&#30456;&#20851;&#24037;&#20316;\&#31163;&#39064;&#26816;&#27979;&#23454;&#39564;&#25972;&#29702;&#65288;&#20013;&#33521;&#25991;&#6528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参考作文数量</a:t>
            </a:r>
            <a:r>
              <a:rPr lang="en-US" altLang="zh-CN" dirty="0"/>
              <a:t>-Marco-F1</a:t>
            </a:r>
            <a:r>
              <a:rPr lang="zh-CN" altLang="en-US" dirty="0"/>
              <a:t>变化趋势</a:t>
            </a:r>
            <a:r>
              <a:rPr lang="en-US" altLang="zh-CN" dirty="0"/>
              <a:t>(MAX)</a:t>
            </a:r>
            <a:endParaRPr lang="zh-CN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Sheet4!$Q$17</c:f>
              <c:strCache>
                <c:ptCount val="1"/>
                <c:pt idx="0">
                  <c:v>CLS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Sheet4!$P$18:$P$23</c:f>
              <c:strCache>
                <c:ptCount val="6"/>
                <c:pt idx="0">
                  <c:v>14W</c:v>
                </c:pt>
                <c:pt idx="1">
                  <c:v>20W</c:v>
                </c:pt>
                <c:pt idx="2">
                  <c:v>30W</c:v>
                </c:pt>
                <c:pt idx="3">
                  <c:v>40W</c:v>
                </c:pt>
                <c:pt idx="4">
                  <c:v>50W</c:v>
                </c:pt>
                <c:pt idx="5">
                  <c:v>60W</c:v>
                </c:pt>
              </c:strCache>
            </c:strRef>
          </c:cat>
          <c:val>
            <c:numRef>
              <c:f>Sheet4!$Q$18:$Q$23</c:f>
              <c:numCache>
                <c:formatCode>0.0000_ </c:formatCode>
                <c:ptCount val="6"/>
                <c:pt idx="0">
                  <c:v>0.41010000000000002</c:v>
                </c:pt>
                <c:pt idx="1">
                  <c:v>0.42620000000000002</c:v>
                </c:pt>
                <c:pt idx="2">
                  <c:v>0.443</c:v>
                </c:pt>
                <c:pt idx="3">
                  <c:v>0.4466</c:v>
                </c:pt>
                <c:pt idx="4">
                  <c:v>0.45710000000000001</c:v>
                </c:pt>
                <c:pt idx="5" formatCode="General">
                  <c:v>0.41399999999999998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75-4217-AA9F-A46821FB8BBD}"/>
            </c:ext>
          </c:extLst>
        </c:ser>
        <c:ser>
          <c:idx val="1"/>
          <c:order val="1"/>
          <c:tx>
            <c:strRef>
              <c:f>Sheet4!$R$17</c:f>
              <c:strCache>
                <c:ptCount val="1"/>
                <c:pt idx="0">
                  <c:v>Last1avg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Sheet4!$P$18:$P$23</c:f>
              <c:strCache>
                <c:ptCount val="6"/>
                <c:pt idx="0">
                  <c:v>14W</c:v>
                </c:pt>
                <c:pt idx="1">
                  <c:v>20W</c:v>
                </c:pt>
                <c:pt idx="2">
                  <c:v>30W</c:v>
                </c:pt>
                <c:pt idx="3">
                  <c:v>40W</c:v>
                </c:pt>
                <c:pt idx="4">
                  <c:v>50W</c:v>
                </c:pt>
                <c:pt idx="5">
                  <c:v>60W</c:v>
                </c:pt>
              </c:strCache>
            </c:strRef>
          </c:cat>
          <c:val>
            <c:numRef>
              <c:f>Sheet4!$R$18:$R$23</c:f>
              <c:numCache>
                <c:formatCode>0.0000_ </c:formatCode>
                <c:ptCount val="6"/>
                <c:pt idx="0">
                  <c:v>0.46689999999999998</c:v>
                </c:pt>
                <c:pt idx="1">
                  <c:v>0.46239999999999998</c:v>
                </c:pt>
                <c:pt idx="2">
                  <c:v>0.46789999999999998</c:v>
                </c:pt>
                <c:pt idx="3">
                  <c:v>0.43680000000000002</c:v>
                </c:pt>
                <c:pt idx="4">
                  <c:v>0.43880000000000002</c:v>
                </c:pt>
                <c:pt idx="5" formatCode="General">
                  <c:v>0.41820000000000002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75-4217-AA9F-A46821FB8BB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40051215"/>
        <c:axId val="1840062863"/>
      </c:lineChart>
      <c:catAx>
        <c:axId val="18400512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参考作文数量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0062863"/>
        <c:crosses val="autoZero"/>
        <c:auto val="1"/>
        <c:lblAlgn val="ctr"/>
        <c:lblOffset val="100"/>
        <c:noMultiLvlLbl val="0"/>
      </c:catAx>
      <c:valAx>
        <c:axId val="1840062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Marco-F1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.00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0051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3DCFA-52E6-4DA8-B279-46FEBAD3151A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4B984-CACC-4286-A28E-21D782CA9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93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4B984-CACC-4286-A28E-21D782CA9B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13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4B984-CACC-4286-A28E-21D782CA9B4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7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icture 2">
            <a:extLst>
              <a:ext uri="{FF2B5EF4-FFF2-40B4-BE49-F238E27FC236}">
                <a16:creationId xmlns:a16="http://schemas.microsoft.com/office/drawing/2014/main" id="{542F83F2-0971-441A-9BEE-B21CB3966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38EC00A9-DD4B-418E-B796-890A7C1A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9723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 userDrawn="1"/>
        </p:nvCxnSpPr>
        <p:spPr bwMode="auto">
          <a:xfrm>
            <a:off x="296671" y="231581"/>
            <a:ext cx="2584" cy="389215"/>
          </a:xfrm>
          <a:prstGeom prst="line">
            <a:avLst/>
          </a:prstGeom>
          <a:noFill/>
          <a:ln w="7620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标题 5"/>
          <p:cNvSpPr>
            <a:spLocks noGrp="1"/>
          </p:cNvSpPr>
          <p:nvPr>
            <p:ph type="title"/>
          </p:nvPr>
        </p:nvSpPr>
        <p:spPr>
          <a:xfrm>
            <a:off x="488016" y="196265"/>
            <a:ext cx="6336118" cy="459846"/>
          </a:xfrm>
          <a:prstGeom prst="rect">
            <a:avLst/>
          </a:prstGeom>
          <a:noFill/>
          <a:ln>
            <a:noFill/>
          </a:ln>
        </p:spPr>
        <p:txBody>
          <a:bodyPr anchor="ctr" anchorCtr="0">
            <a:normAutofit/>
          </a:bodyPr>
          <a:lstStyle>
            <a:lvl1pPr>
              <a:defRPr sz="2000" b="1">
                <a:solidFill>
                  <a:srgbClr val="0C4BA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7" name="直线连接符 8"/>
          <p:cNvCxnSpPr/>
          <p:nvPr userDrawn="1"/>
        </p:nvCxnSpPr>
        <p:spPr bwMode="auto">
          <a:xfrm>
            <a:off x="381369" y="231581"/>
            <a:ext cx="2584" cy="389215"/>
          </a:xfrm>
          <a:prstGeom prst="line">
            <a:avLst/>
          </a:prstGeom>
          <a:noFill/>
          <a:ln w="3810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线连接符 8"/>
          <p:cNvCxnSpPr/>
          <p:nvPr userDrawn="1"/>
        </p:nvCxnSpPr>
        <p:spPr bwMode="auto">
          <a:xfrm>
            <a:off x="466068" y="231581"/>
            <a:ext cx="2584" cy="389215"/>
          </a:xfrm>
          <a:prstGeom prst="line">
            <a:avLst/>
          </a:prstGeom>
          <a:noFill/>
          <a:ln w="1905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6E9B56-3E5D-441E-908C-2EC30E13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27CD507-D1E1-4158-9854-7C96BDF9FDFB}" type="datetimeFigureOut">
              <a:rPr lang="zh-CN" altLang="en-US" smtClean="0"/>
              <a:pPr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25EA3-90CA-4093-9EBC-57AC055E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4ACAE8D-8F55-4B1A-8049-35D5B783C7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E9477CCA-DC2B-46C1-9BD9-9C33B77E5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26" y="728025"/>
            <a:ext cx="11750052" cy="5562115"/>
          </a:xfrm>
        </p:spPr>
        <p:txBody>
          <a:bodyPr/>
          <a:lstStyle>
            <a:lvl1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85800" indent="-228600">
              <a:buFont typeface="Wingdings" panose="05000000000000000000" pitchFamily="2" charset="2"/>
              <a:buChar char="p"/>
              <a:defRPr sz="1600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Font typeface="Wingdings" panose="05000000000000000000" pitchFamily="2" charset="2"/>
              <a:buChar char="p"/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buFont typeface="Wingdings" panose="05000000000000000000" pitchFamily="2" charset="2"/>
              <a:buChar char="Ø"/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buFont typeface="Wingdings" panose="05000000000000000000" pitchFamily="2" charset="2"/>
              <a:buChar char="Ø"/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2346752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 userDrawn="1"/>
        </p:nvCxnSpPr>
        <p:spPr bwMode="auto">
          <a:xfrm>
            <a:off x="296671" y="231581"/>
            <a:ext cx="2584" cy="389215"/>
          </a:xfrm>
          <a:prstGeom prst="line">
            <a:avLst/>
          </a:prstGeom>
          <a:noFill/>
          <a:ln w="7620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标题 5"/>
          <p:cNvSpPr>
            <a:spLocks noGrp="1"/>
          </p:cNvSpPr>
          <p:nvPr>
            <p:ph type="title"/>
          </p:nvPr>
        </p:nvSpPr>
        <p:spPr>
          <a:xfrm>
            <a:off x="488016" y="196265"/>
            <a:ext cx="6336118" cy="459846"/>
          </a:xfrm>
          <a:prstGeom prst="rect">
            <a:avLst/>
          </a:prstGeom>
          <a:noFill/>
          <a:ln>
            <a:noFill/>
          </a:ln>
        </p:spPr>
        <p:txBody>
          <a:bodyPr anchor="ctr" anchorCtr="0">
            <a:normAutofit/>
          </a:bodyPr>
          <a:lstStyle>
            <a:lvl1pPr>
              <a:defRPr sz="2000" b="1">
                <a:solidFill>
                  <a:srgbClr val="0C4BA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7" name="直线连接符 8"/>
          <p:cNvCxnSpPr/>
          <p:nvPr userDrawn="1"/>
        </p:nvCxnSpPr>
        <p:spPr bwMode="auto">
          <a:xfrm>
            <a:off x="381369" y="231581"/>
            <a:ext cx="2584" cy="389215"/>
          </a:xfrm>
          <a:prstGeom prst="line">
            <a:avLst/>
          </a:prstGeom>
          <a:noFill/>
          <a:ln w="3810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线连接符 8"/>
          <p:cNvCxnSpPr/>
          <p:nvPr userDrawn="1"/>
        </p:nvCxnSpPr>
        <p:spPr bwMode="auto">
          <a:xfrm>
            <a:off x="466068" y="231581"/>
            <a:ext cx="2584" cy="389215"/>
          </a:xfrm>
          <a:prstGeom prst="line">
            <a:avLst/>
          </a:prstGeom>
          <a:noFill/>
          <a:ln w="1905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6E9B56-3E5D-441E-908C-2EC30E13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27CD507-D1E1-4158-9854-7C96BDF9FDFB}" type="datetimeFigureOut">
              <a:rPr lang="zh-CN" altLang="en-US" smtClean="0"/>
              <a:pPr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25EA3-90CA-4093-9EBC-57AC055E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4ACAE8D-8F55-4B1A-8049-35D5B783C7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7800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ABF59-05AE-44BD-B04C-61F7EF39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A8C8EA-3F71-4F62-9D87-D1CEA0A7C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4364F5-95C4-4310-883D-1E8DA06D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7C1E-999C-4CFD-A1DB-2F9995BD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FB557A-D2BD-408C-B2E6-1915EF84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61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A3C24-20F4-45BC-A76C-A5037DE7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F052E-0B42-45AB-8568-580AEBD3B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00F3E-3B14-4F6A-AD50-0E832AA9A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53E731-ABB0-49EF-9CF4-D3EF0F2B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1A7F7A-0A3E-4C53-B628-41071F24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34233A-81D7-4417-A631-891FEFD0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4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C3819-1DF7-466D-893D-2CF620B1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9F51AA-AC2C-4947-8F6E-D1A09CD9D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057652-51EE-4103-A6DB-D0B5B7848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7E8EBB-CEFD-4C24-9CF8-A32360AFC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F64C2C-792B-44AA-AAA0-60073F927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569AF5-539C-4A88-9CAE-8F52BD09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D884F9-EDF7-49DC-9B40-4DADA091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D908BE-0012-4ACC-A19B-81391DDA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5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43BBB-BB31-4FC0-AA25-D601F632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7B49EE-8371-4C6C-A986-734AC757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E80C07-9A0D-4540-979C-52C41CA3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1C1BF6-6DE8-459D-B5C7-CD8B4563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12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56339D-6A6C-4DE7-809E-D75894C8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EA35A4-C433-4F46-90F9-3771D239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4DB9FF-0804-4B4D-A3C4-4A34F398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59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708FF-1EEA-445F-9CE3-51FF2B32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718D3-F5A6-4048-B766-082085862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5A7902-4B6B-45C7-89CF-127BD8126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118648-1533-4E73-A279-FD1EC0F2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F8BED6-0700-46DC-AD9E-9425F4E6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0210B8-4548-4880-8008-224A5364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8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FEC77-330A-44B3-8443-A9F8AEA7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DCD798-2A72-497D-9554-617AD3EA2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D80CF7-E7D7-4A18-968A-A71F5E465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8AB5B8-0E68-4D31-AE7F-330DED79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DEFFC4-55FF-4F16-87CC-0CBB6267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EDBBAF-F21C-41BE-9B5B-8B14853C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3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CB2D1-1D37-46FE-B7D6-935A3530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DD1A6C-CC22-4CD5-88EC-CA953E9D3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45559-FA62-4080-AFE2-285740CB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165FF-EFCD-4E92-BC48-D3F38C71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57FCA-4AC2-4FD3-B46A-17E03572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718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C590AA-477D-4C45-8608-87A4CDF49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ADED40-40D9-419F-AA5C-85F466DA4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6F117-D574-42CA-9723-AE6FD0BD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8E2439-85FF-4CF1-8DE3-6F210268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65DC7-8599-45E4-9F0A-A05A6C8A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50809-BDDD-4966-AD08-0C499C8A4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26" y="696023"/>
            <a:ext cx="11750052" cy="5777412"/>
          </a:xfrm>
        </p:spPr>
        <p:txBody>
          <a:bodyPr/>
          <a:lstStyle>
            <a:lvl1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600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cxnSp>
        <p:nvCxnSpPr>
          <p:cNvPr id="7" name="直线连接符 8">
            <a:extLst>
              <a:ext uri="{FF2B5EF4-FFF2-40B4-BE49-F238E27FC236}">
                <a16:creationId xmlns:a16="http://schemas.microsoft.com/office/drawing/2014/main" id="{CFF06AC6-1857-4169-A474-C90110E39B10}"/>
              </a:ext>
            </a:extLst>
          </p:cNvPr>
          <p:cNvCxnSpPr/>
          <p:nvPr userDrawn="1"/>
        </p:nvCxnSpPr>
        <p:spPr bwMode="auto">
          <a:xfrm>
            <a:off x="251046" y="197607"/>
            <a:ext cx="2584" cy="389215"/>
          </a:xfrm>
          <a:prstGeom prst="line">
            <a:avLst/>
          </a:prstGeom>
          <a:noFill/>
          <a:ln w="7620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标题 5">
            <a:extLst>
              <a:ext uri="{FF2B5EF4-FFF2-40B4-BE49-F238E27FC236}">
                <a16:creationId xmlns:a16="http://schemas.microsoft.com/office/drawing/2014/main" id="{00079DDB-2689-44A1-B7AE-FF3025C04DC5}"/>
              </a:ext>
            </a:extLst>
          </p:cNvPr>
          <p:cNvSpPr txBox="1">
            <a:spLocks/>
          </p:cNvSpPr>
          <p:nvPr userDrawn="1"/>
        </p:nvSpPr>
        <p:spPr>
          <a:xfrm>
            <a:off x="442391" y="162291"/>
            <a:ext cx="6336118" cy="4598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0C4BA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8640E49-C197-4155-8329-66E787003DF9}"/>
              </a:ext>
            </a:extLst>
          </p:cNvPr>
          <p:cNvCxnSpPr/>
          <p:nvPr userDrawn="1"/>
        </p:nvCxnSpPr>
        <p:spPr bwMode="auto">
          <a:xfrm>
            <a:off x="335744" y="197607"/>
            <a:ext cx="2584" cy="389215"/>
          </a:xfrm>
          <a:prstGeom prst="line">
            <a:avLst/>
          </a:prstGeom>
          <a:noFill/>
          <a:ln w="3810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线连接符 8">
            <a:extLst>
              <a:ext uri="{FF2B5EF4-FFF2-40B4-BE49-F238E27FC236}">
                <a16:creationId xmlns:a16="http://schemas.microsoft.com/office/drawing/2014/main" id="{D09D8A99-1F5C-41C0-9EEF-67D91F4789E3}"/>
              </a:ext>
            </a:extLst>
          </p:cNvPr>
          <p:cNvCxnSpPr/>
          <p:nvPr userDrawn="1"/>
        </p:nvCxnSpPr>
        <p:spPr bwMode="auto">
          <a:xfrm>
            <a:off x="420443" y="197607"/>
            <a:ext cx="2584" cy="389215"/>
          </a:xfrm>
          <a:prstGeom prst="line">
            <a:avLst/>
          </a:prstGeom>
          <a:noFill/>
          <a:ln w="19050" cap="flat" cmpd="sng" algn="ctr">
            <a:solidFill>
              <a:srgbClr val="0C4BA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9B3D4DD1-2774-4ECE-8381-53F7A59291B2}"/>
              </a:ext>
            </a:extLst>
          </p:cNvPr>
          <p:cNvSpPr txBox="1">
            <a:spLocks/>
          </p:cNvSpPr>
          <p:nvPr userDrawn="1"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7CD507-D1E1-4158-9854-7C96BDF9FDFB}" type="datetimeFigureOut">
              <a:rPr lang="zh-CN" altLang="en-US" smtClean="0"/>
              <a:pPr/>
              <a:t>2021/7/8</a:t>
            </a:fld>
            <a:endParaRPr lang="zh-CN" altLang="en-US" dirty="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4F97A1F4-3EF3-4B89-A49B-724AD3106C1E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ACAE8D-8F55-4B1A-8049-35D5B783C7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299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EEE982-04DC-4FED-870B-69B504B9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A4AAB4-E741-467D-811C-6345C99CE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94C009-6DB9-4E43-8540-939F55BAB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CD507-D1E1-4158-9854-7C96BDF9FDFB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F3B8B4-F5F3-497E-9C65-D78BCAFC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EA8C3-FAE7-4F47-81A5-B592B5D51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CAE8D-8F55-4B1A-8049-35D5B783C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02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2.png"/><Relationship Id="rId7" Type="http://schemas.openxmlformats.org/officeDocument/2006/relationships/image" Target="../media/image21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icture 2">
            <a:extLst>
              <a:ext uri="{FF2B5EF4-FFF2-40B4-BE49-F238E27FC236}">
                <a16:creationId xmlns:a16="http://schemas.microsoft.com/office/drawing/2014/main" id="{1E5AB896-533C-412D-84F5-332B2A33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2192001" cy="685799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副标题 1">
            <a:extLst>
              <a:ext uri="{FF2B5EF4-FFF2-40B4-BE49-F238E27FC236}">
                <a16:creationId xmlns:a16="http://schemas.microsoft.com/office/drawing/2014/main" id="{2A8CB606-74D8-470B-A237-4A086249D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语言学习组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2021</a:t>
            </a:r>
          </a:p>
          <a:p>
            <a:r>
              <a:rPr lang="zh-CN" altLang="en-US" dirty="0"/>
              <a:t>汇报人：屈原斌</a:t>
            </a:r>
          </a:p>
        </p:txBody>
      </p:sp>
    </p:spTree>
    <p:extLst>
      <p:ext uri="{BB962C8B-B14F-4D97-AF65-F5344CB8AC3E}">
        <p14:creationId xmlns:p14="http://schemas.microsoft.com/office/powerpoint/2010/main" val="366243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2257F-C5F5-4C79-854F-6CAABE58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151E9D-1EED-4CD6-84E5-669037083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代码模块封装</a:t>
            </a:r>
            <a:endParaRPr lang="en-US" altLang="zh-CN" dirty="0"/>
          </a:p>
          <a:p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正文匹配检测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格式检查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Demo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更新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初中场景离题检测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AABCA5C-42C9-4863-A534-FC1CE16D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正文匹配任务明确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EE7FD2-D9E1-4B3A-953E-E0DD3CCF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B7D-AE9C-4FE2-BCF5-C2C666B8975D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8C1F2AF-5C22-4280-B0CA-CE5F8C93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F9E9F5-43A8-4839-B3DE-438D43576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任务定义</a:t>
            </a:r>
            <a:endParaRPr lang="en-US" altLang="zh-CN" dirty="0"/>
          </a:p>
          <a:p>
            <a:pPr lvl="1"/>
            <a:r>
              <a:rPr lang="zh-CN" altLang="en-US" dirty="0"/>
              <a:t> 检测标题与正文是否离题</a:t>
            </a:r>
            <a:endParaRPr lang="en-US" altLang="zh-CN" dirty="0"/>
          </a:p>
          <a:p>
            <a:r>
              <a:rPr lang="zh-CN" altLang="en-US" dirty="0"/>
              <a:t>任务场景</a:t>
            </a:r>
            <a:endParaRPr lang="en-US" altLang="zh-CN" dirty="0"/>
          </a:p>
          <a:p>
            <a:pPr lvl="1"/>
            <a:r>
              <a:rPr lang="zh-CN" altLang="en-US" dirty="0"/>
              <a:t> </a:t>
            </a:r>
            <a:r>
              <a:rPr lang="zh-CN" altLang="en-US" b="1" dirty="0"/>
              <a:t>通用</a:t>
            </a:r>
            <a:r>
              <a:rPr lang="en-US" altLang="zh-CN" b="1" dirty="0"/>
              <a:t>/</a:t>
            </a:r>
            <a:r>
              <a:rPr lang="zh-CN" altLang="en-US" b="1" dirty="0"/>
              <a:t>同步场景</a:t>
            </a:r>
            <a:r>
              <a:rPr lang="zh-CN" altLang="en-US" dirty="0"/>
              <a:t>离题检查</a:t>
            </a:r>
            <a:endParaRPr lang="en-US" altLang="zh-CN" dirty="0"/>
          </a:p>
          <a:p>
            <a:r>
              <a:rPr lang="zh-CN" altLang="en-US" dirty="0"/>
              <a:t>任务梳理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79B892-B4D8-4F85-9EC1-764E0B94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88" y="2861383"/>
            <a:ext cx="8157224" cy="300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913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5811F0C-04A1-4CAD-9E09-F11B18D4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通用</a:t>
            </a:r>
            <a:r>
              <a:rPr lang="en-US" altLang="zh-CN" dirty="0"/>
              <a:t>/</a:t>
            </a:r>
            <a:r>
              <a:rPr lang="zh-CN" altLang="en-US" dirty="0"/>
              <a:t>同步场景离题检测方案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08FC5A-EFA6-4005-8FB7-6B6D8B08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DE22-5817-46C0-80E9-A3D6E9FBA666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D74E29-063F-40E4-B3BD-0FEB69EA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53DDBD0-3F81-43DB-8A5E-1488FC8E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629" y="728025"/>
            <a:ext cx="11750052" cy="5562115"/>
          </a:xfrm>
        </p:spPr>
        <p:txBody>
          <a:bodyPr/>
          <a:lstStyle/>
          <a:p>
            <a:r>
              <a:rPr lang="zh-CN" altLang="en-US" dirty="0"/>
              <a:t>方案图</a:t>
            </a:r>
          </a:p>
        </p:txBody>
      </p: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203C1FD4-6F85-4177-B627-59C72422E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821356"/>
              </p:ext>
            </p:extLst>
          </p:nvPr>
        </p:nvGraphicFramePr>
        <p:xfrm>
          <a:off x="2735788" y="1511498"/>
          <a:ext cx="3276000" cy="2375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85656932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5454461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81641391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0906890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952565641"/>
                    </a:ext>
                  </a:extLst>
                </a:gridCol>
              </a:tblGrid>
              <a:tr h="4410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习作</a:t>
                      </a:r>
                      <a:endParaRPr lang="en-US" altLang="zh-CN" sz="11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要求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习作要求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习作要求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正文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</a:rPr>
                        <a:t>正文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0772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0605452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7280357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083290"/>
                  </a:ext>
                </a:extLst>
              </a:tr>
              <a:tr h="4837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0659934"/>
                  </a:ext>
                </a:extLst>
              </a:tr>
            </a:tbl>
          </a:graphicData>
        </a:graphic>
      </p:graphicFrame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C1AD6A2-5C00-4E54-84C3-CC02AF53A21B}"/>
              </a:ext>
            </a:extLst>
          </p:cNvPr>
          <p:cNvSpPr/>
          <p:nvPr/>
        </p:nvSpPr>
        <p:spPr>
          <a:xfrm>
            <a:off x="2617436" y="1152561"/>
            <a:ext cx="3497935" cy="3616853"/>
          </a:xfrm>
          <a:prstGeom prst="roundRect">
            <a:avLst>
              <a:gd name="adj" fmla="val 2060"/>
            </a:avLst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96A2E90-6FC2-414C-842C-F62146A2BA51}"/>
              </a:ext>
            </a:extLst>
          </p:cNvPr>
          <p:cNvGrpSpPr/>
          <p:nvPr/>
        </p:nvGrpSpPr>
        <p:grpSpPr>
          <a:xfrm>
            <a:off x="3605658" y="3869987"/>
            <a:ext cx="2303280" cy="655682"/>
            <a:chOff x="4493567" y="4464415"/>
            <a:chExt cx="2303280" cy="65568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4A85EFB-59B5-40E7-807C-D17994D7C6FE}"/>
                </a:ext>
              </a:extLst>
            </p:cNvPr>
            <p:cNvGrpSpPr/>
            <p:nvPr/>
          </p:nvGrpSpPr>
          <p:grpSpPr>
            <a:xfrm>
              <a:off x="4493567" y="4484640"/>
              <a:ext cx="640662" cy="629630"/>
              <a:chOff x="4493567" y="4484640"/>
              <a:chExt cx="640662" cy="62963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A149BBDE-494F-488B-BC33-1C6EE331588E}"/>
                      </a:ext>
                    </a:extLst>
                  </p:cNvPr>
                  <p:cNvSpPr/>
                  <p:nvPr/>
                </p:nvSpPr>
                <p:spPr>
                  <a:xfrm>
                    <a:off x="4493567" y="4754270"/>
                    <a:ext cx="640662" cy="360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𝑆𝑐𝑜𝑟</m:t>
                          </m:r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100" i="1" dirty="0"/>
                  </a:p>
                </p:txBody>
              </p:sp>
            </mc:Choice>
            <mc:Fallback xmlns=""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A149BBDE-494F-488B-BC33-1C6EE33158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3567" y="4754270"/>
                    <a:ext cx="640662" cy="3600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038ED247-C113-48B4-B3F4-41CF7F2E8628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 flipV="1">
                <a:off x="4813898" y="4484640"/>
                <a:ext cx="1" cy="269630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045B81C-F591-40C5-B033-03EE7BE75F56}"/>
                </a:ext>
              </a:extLst>
            </p:cNvPr>
            <p:cNvGrpSpPr/>
            <p:nvPr/>
          </p:nvGrpSpPr>
          <p:grpSpPr>
            <a:xfrm>
              <a:off x="5325786" y="4484640"/>
              <a:ext cx="640662" cy="629630"/>
              <a:chOff x="5325786" y="4484640"/>
              <a:chExt cx="640662" cy="62963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4DC41D75-49A9-4F84-866B-C8A0ADA48094}"/>
                      </a:ext>
                    </a:extLst>
                  </p:cNvPr>
                  <p:cNvSpPr/>
                  <p:nvPr/>
                </p:nvSpPr>
                <p:spPr>
                  <a:xfrm>
                    <a:off x="5325786" y="4754270"/>
                    <a:ext cx="640662" cy="360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𝑆𝑐𝑜𝑟</m:t>
                          </m:r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 xmlns=""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4DC41D75-49A9-4F84-866B-C8A0ADA480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5786" y="4754270"/>
                    <a:ext cx="640662" cy="360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95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5551BF9C-6393-46FE-9104-B830AA9A8BF2}"/>
                  </a:ext>
                </a:extLst>
              </p:cNvPr>
              <p:cNvCxnSpPr>
                <a:cxnSpLocks/>
                <a:stCxn id="17" idx="0"/>
              </p:cNvCxnSpPr>
              <p:nvPr/>
            </p:nvCxnSpPr>
            <p:spPr>
              <a:xfrm flipV="1">
                <a:off x="5646117" y="4484640"/>
                <a:ext cx="0" cy="269630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A09C5B9-B3D6-4C9C-86AC-61D2B2BE5640}"/>
                </a:ext>
              </a:extLst>
            </p:cNvPr>
            <p:cNvGrpSpPr/>
            <p:nvPr/>
          </p:nvGrpSpPr>
          <p:grpSpPr>
            <a:xfrm>
              <a:off x="6156185" y="4464415"/>
              <a:ext cx="640662" cy="655682"/>
              <a:chOff x="6156185" y="4464415"/>
              <a:chExt cx="640662" cy="6556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15114ECE-586F-41E4-B196-D0E5F7759C24}"/>
                      </a:ext>
                    </a:extLst>
                  </p:cNvPr>
                  <p:cNvSpPr/>
                  <p:nvPr/>
                </p:nvSpPr>
                <p:spPr>
                  <a:xfrm>
                    <a:off x="6156185" y="4760097"/>
                    <a:ext cx="640662" cy="360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𝑆𝑐𝑜𝑟</m:t>
                          </m:r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100" dirty="0"/>
                  </a:p>
                </p:txBody>
              </p:sp>
            </mc:Choice>
            <mc:Fallback xmlns=""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15114ECE-586F-41E4-B196-D0E5F7759C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6185" y="4760097"/>
                    <a:ext cx="640662" cy="360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95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FACB53B4-6B4D-4B4C-8538-8F17E0C87C7D}"/>
                  </a:ext>
                </a:extLst>
              </p:cNvPr>
              <p:cNvCxnSpPr>
                <a:cxnSpLocks/>
                <a:stCxn id="18" idx="0"/>
              </p:cNvCxnSpPr>
              <p:nvPr/>
            </p:nvCxnSpPr>
            <p:spPr>
              <a:xfrm flipV="1">
                <a:off x="6476516" y="4464415"/>
                <a:ext cx="0" cy="295682"/>
              </a:xfrm>
              <a:prstGeom prst="straightConnector1">
                <a:avLst/>
              </a:prstGeom>
              <a:ln w="1270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00AE550-E45B-4676-A592-0E1993811420}"/>
              </a:ext>
            </a:extLst>
          </p:cNvPr>
          <p:cNvSpPr/>
          <p:nvPr/>
        </p:nvSpPr>
        <p:spPr>
          <a:xfrm>
            <a:off x="4377427" y="4078611"/>
            <a:ext cx="1616212" cy="499159"/>
          </a:xfrm>
          <a:prstGeom prst="roundRect">
            <a:avLst>
              <a:gd name="adj" fmla="val 8499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2" name="表格 32">
            <a:extLst>
              <a:ext uri="{FF2B5EF4-FFF2-40B4-BE49-F238E27FC236}">
                <a16:creationId xmlns:a16="http://schemas.microsoft.com/office/drawing/2014/main" id="{9A2B4A2B-A45F-438D-816E-F5EEDE9E9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92826"/>
              </p:ext>
            </p:extLst>
          </p:nvPr>
        </p:nvGraphicFramePr>
        <p:xfrm>
          <a:off x="4288796" y="5080366"/>
          <a:ext cx="1620000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12045407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24164765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838605402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0073540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80361011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优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良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10848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优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58149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良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8684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1074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bg1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631667"/>
                  </a:ext>
                </a:extLst>
              </a:tr>
            </a:tbl>
          </a:graphicData>
        </a:graphic>
      </p:graphicFrame>
      <p:sp>
        <p:nvSpPr>
          <p:cNvPr id="37" name="箭头: 右 36">
            <a:extLst>
              <a:ext uri="{FF2B5EF4-FFF2-40B4-BE49-F238E27FC236}">
                <a16:creationId xmlns:a16="http://schemas.microsoft.com/office/drawing/2014/main" id="{A77ADCA2-7245-439A-B9F6-AEF69A8DA067}"/>
              </a:ext>
            </a:extLst>
          </p:cNvPr>
          <p:cNvSpPr/>
          <p:nvPr/>
        </p:nvSpPr>
        <p:spPr>
          <a:xfrm>
            <a:off x="2207787" y="2823255"/>
            <a:ext cx="341654" cy="2189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D859EB-46C3-444D-A5DF-30E9291F0C8B}"/>
              </a:ext>
            </a:extLst>
          </p:cNvPr>
          <p:cNvSpPr txBox="1"/>
          <p:nvPr/>
        </p:nvSpPr>
        <p:spPr>
          <a:xfrm>
            <a:off x="2645414" y="1200528"/>
            <a:ext cx="33663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注</a:t>
            </a:r>
            <a:r>
              <a:rPr lang="en-US" altLang="zh-CN" sz="900" dirty="0"/>
              <a:t>: 1</a:t>
            </a:r>
            <a:r>
              <a:rPr lang="zh-CN" altLang="en-US" sz="900" dirty="0"/>
              <a:t>和</a:t>
            </a:r>
            <a:r>
              <a:rPr lang="en-US" altLang="zh-CN" sz="900" dirty="0"/>
              <a:t>0</a:t>
            </a:r>
            <a:r>
              <a:rPr lang="zh-CN" altLang="en-US" sz="900" dirty="0"/>
              <a:t>表示有无</a:t>
            </a:r>
            <a:r>
              <a:rPr lang="en-US" altLang="zh-CN" sz="900" dirty="0"/>
              <a:t>(</a:t>
            </a:r>
            <a:r>
              <a:rPr lang="zh-CN" altLang="en-US" sz="900" dirty="0"/>
              <a:t>标题</a:t>
            </a:r>
            <a:r>
              <a:rPr lang="en-US" altLang="zh-CN" sz="900" dirty="0"/>
              <a:t>/</a:t>
            </a:r>
            <a:r>
              <a:rPr lang="zh-CN" altLang="en-US" sz="900" dirty="0"/>
              <a:t>习作要求</a:t>
            </a:r>
            <a:r>
              <a:rPr lang="en-US" altLang="zh-CN" sz="900" dirty="0"/>
              <a:t>); </a:t>
            </a:r>
            <a:r>
              <a:rPr lang="zh-CN" altLang="zh-CN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✓</a:t>
            </a:r>
            <a:r>
              <a:rPr lang="zh-CN" altLang="en-US" sz="900" dirty="0"/>
              <a:t>和</a:t>
            </a:r>
            <a:r>
              <a:rPr lang="zh-CN" altLang="zh-CN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✘</a:t>
            </a:r>
            <a:r>
              <a:rPr lang="zh-CN" altLang="en-US" sz="900" dirty="0"/>
              <a:t>表示任务是否执行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B6BEFF3B-CBE1-4176-86A7-79DF80173568}"/>
              </a:ext>
            </a:extLst>
          </p:cNvPr>
          <p:cNvSpPr/>
          <p:nvPr/>
        </p:nvSpPr>
        <p:spPr>
          <a:xfrm>
            <a:off x="5031254" y="4651032"/>
            <a:ext cx="154270" cy="363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C98FE33B-CC24-43FF-AC46-D69742FB7658}"/>
              </a:ext>
            </a:extLst>
          </p:cNvPr>
          <p:cNvGrpSpPr/>
          <p:nvPr/>
        </p:nvGrpSpPr>
        <p:grpSpPr>
          <a:xfrm>
            <a:off x="6656645" y="549248"/>
            <a:ext cx="5411102" cy="5955072"/>
            <a:chOff x="6656645" y="549248"/>
            <a:chExt cx="5411102" cy="5955072"/>
          </a:xfrm>
        </p:grpSpPr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E5EBBE9C-CEC0-4A1E-A254-F051EE430D6B}"/>
                </a:ext>
              </a:extLst>
            </p:cNvPr>
            <p:cNvGrpSpPr/>
            <p:nvPr/>
          </p:nvGrpSpPr>
          <p:grpSpPr>
            <a:xfrm>
              <a:off x="6656645" y="2566289"/>
              <a:ext cx="5411102" cy="1920991"/>
              <a:chOff x="6668026" y="2512124"/>
              <a:chExt cx="5411102" cy="1920991"/>
            </a:xfrm>
          </p:grpSpPr>
          <p:grpSp>
            <p:nvGrpSpPr>
              <p:cNvPr id="132" name="组合 131">
                <a:extLst>
                  <a:ext uri="{FF2B5EF4-FFF2-40B4-BE49-F238E27FC236}">
                    <a16:creationId xmlns:a16="http://schemas.microsoft.com/office/drawing/2014/main" id="{A0D227FB-C718-4DD2-986B-4B25811D561C}"/>
                  </a:ext>
                </a:extLst>
              </p:cNvPr>
              <p:cNvGrpSpPr/>
              <p:nvPr/>
            </p:nvGrpSpPr>
            <p:grpSpPr>
              <a:xfrm>
                <a:off x="6726678" y="2847348"/>
                <a:ext cx="4260497" cy="1537673"/>
                <a:chOff x="6841737" y="2827103"/>
                <a:chExt cx="4260497" cy="1537673"/>
              </a:xfrm>
            </p:grpSpPr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689E2C35-8C9A-4CD4-AAE5-AE39644B9850}"/>
                    </a:ext>
                  </a:extLst>
                </p:cNvPr>
                <p:cNvSpPr/>
                <p:nvPr/>
              </p:nvSpPr>
              <p:spPr>
                <a:xfrm>
                  <a:off x="8161489" y="3398660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是否有习作要求</a:t>
                  </a:r>
                </a:p>
              </p:txBody>
            </p:sp>
            <p:sp>
              <p:nvSpPr>
                <p:cNvPr id="134" name="矩形 133">
                  <a:extLst>
                    <a:ext uri="{FF2B5EF4-FFF2-40B4-BE49-F238E27FC236}">
                      <a16:creationId xmlns:a16="http://schemas.microsoft.com/office/drawing/2014/main" id="{81FAA413-394B-492E-BAA8-E87ECFBB199A}"/>
                    </a:ext>
                  </a:extLst>
                </p:cNvPr>
                <p:cNvSpPr/>
                <p:nvPr/>
              </p:nvSpPr>
              <p:spPr>
                <a:xfrm>
                  <a:off x="8157505" y="4056820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b="1" dirty="0"/>
                    <a:t>无</a:t>
                  </a:r>
                </a:p>
              </p:txBody>
            </p:sp>
            <p:sp>
              <p:nvSpPr>
                <p:cNvPr id="135" name="箭头: 右 134">
                  <a:extLst>
                    <a:ext uri="{FF2B5EF4-FFF2-40B4-BE49-F238E27FC236}">
                      <a16:creationId xmlns:a16="http://schemas.microsoft.com/office/drawing/2014/main" id="{2F412A04-649E-4BC7-968D-97A4C5FC6C9F}"/>
                    </a:ext>
                  </a:extLst>
                </p:cNvPr>
                <p:cNvSpPr/>
                <p:nvPr/>
              </p:nvSpPr>
              <p:spPr>
                <a:xfrm>
                  <a:off x="7810347" y="3483061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6" name="箭头: 右 135">
                  <a:extLst>
                    <a:ext uri="{FF2B5EF4-FFF2-40B4-BE49-F238E27FC236}">
                      <a16:creationId xmlns:a16="http://schemas.microsoft.com/office/drawing/2014/main" id="{80469821-7E8D-4895-8B51-18FAEAEFAD7E}"/>
                    </a:ext>
                  </a:extLst>
                </p:cNvPr>
                <p:cNvSpPr/>
                <p:nvPr/>
              </p:nvSpPr>
              <p:spPr>
                <a:xfrm>
                  <a:off x="8935301" y="3483061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7" name="箭头: 右 136">
                  <a:extLst>
                    <a:ext uri="{FF2B5EF4-FFF2-40B4-BE49-F238E27FC236}">
                      <a16:creationId xmlns:a16="http://schemas.microsoft.com/office/drawing/2014/main" id="{13D2D217-C7E4-4156-9CCA-0B6F33F225FF}"/>
                    </a:ext>
                  </a:extLst>
                </p:cNvPr>
                <p:cNvSpPr/>
                <p:nvPr/>
              </p:nvSpPr>
              <p:spPr>
                <a:xfrm rot="5400000">
                  <a:off x="8373505" y="3814588"/>
                  <a:ext cx="288000" cy="136800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8" name="矩形 137">
                  <a:extLst>
                    <a:ext uri="{FF2B5EF4-FFF2-40B4-BE49-F238E27FC236}">
                      <a16:creationId xmlns:a16="http://schemas.microsoft.com/office/drawing/2014/main" id="{5C56946E-AC7E-4D54-B1C4-6EAE6A0E6D6D}"/>
                    </a:ext>
                  </a:extLst>
                </p:cNvPr>
                <p:cNvSpPr/>
                <p:nvPr/>
              </p:nvSpPr>
              <p:spPr>
                <a:xfrm>
                  <a:off x="9268200" y="3390352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离题检测模块</a:t>
                  </a:r>
                </a:p>
              </p:txBody>
            </p:sp>
            <p:sp>
              <p:nvSpPr>
                <p:cNvPr id="139" name="箭头: 右 138">
                  <a:extLst>
                    <a:ext uri="{FF2B5EF4-FFF2-40B4-BE49-F238E27FC236}">
                      <a16:creationId xmlns:a16="http://schemas.microsoft.com/office/drawing/2014/main" id="{E5DC4B9F-9509-4122-BF92-2D2B1D822EE5}"/>
                    </a:ext>
                  </a:extLst>
                </p:cNvPr>
                <p:cNvSpPr/>
                <p:nvPr/>
              </p:nvSpPr>
              <p:spPr>
                <a:xfrm>
                  <a:off x="10049257" y="3476451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57B394CD-F467-4745-8DFB-AA5EBB294066}"/>
                    </a:ext>
                  </a:extLst>
                </p:cNvPr>
                <p:cNvSpPr/>
                <p:nvPr/>
              </p:nvSpPr>
              <p:spPr>
                <a:xfrm>
                  <a:off x="10382234" y="3398660"/>
                  <a:ext cx="720000" cy="288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b="1" dirty="0"/>
                    <a:t>优</a:t>
                  </a:r>
                  <a:r>
                    <a:rPr lang="en-US" altLang="zh-CN" sz="800" b="1" dirty="0"/>
                    <a:t>/</a:t>
                  </a:r>
                  <a:r>
                    <a:rPr lang="zh-CN" altLang="en-US" sz="800" b="1" dirty="0"/>
                    <a:t>良</a:t>
                  </a:r>
                  <a:r>
                    <a:rPr lang="en-US" altLang="zh-CN" sz="800" b="1" dirty="0"/>
                    <a:t>/</a:t>
                  </a:r>
                  <a:r>
                    <a:rPr lang="zh-CN" altLang="en-US" sz="800" b="1" dirty="0"/>
                    <a:t>中</a:t>
                  </a:r>
                </a:p>
              </p:txBody>
            </p:sp>
            <p:grpSp>
              <p:nvGrpSpPr>
                <p:cNvPr id="143" name="组合 142">
                  <a:extLst>
                    <a:ext uri="{FF2B5EF4-FFF2-40B4-BE49-F238E27FC236}">
                      <a16:creationId xmlns:a16="http://schemas.microsoft.com/office/drawing/2014/main" id="{9A26B644-3677-4A5C-ACD6-6B0F4787B840}"/>
                    </a:ext>
                  </a:extLst>
                </p:cNvPr>
                <p:cNvGrpSpPr/>
                <p:nvPr/>
              </p:nvGrpSpPr>
              <p:grpSpPr>
                <a:xfrm>
                  <a:off x="6841737" y="2827103"/>
                  <a:ext cx="910103" cy="1537673"/>
                  <a:chOff x="1161928" y="2357963"/>
                  <a:chExt cx="1375200" cy="2754848"/>
                </a:xfrm>
              </p:grpSpPr>
              <p:sp>
                <p:nvSpPr>
                  <p:cNvPr id="148" name="矩形: 圆角 147">
                    <a:extLst>
                      <a:ext uri="{FF2B5EF4-FFF2-40B4-BE49-F238E27FC236}">
                        <a16:creationId xmlns:a16="http://schemas.microsoft.com/office/drawing/2014/main" id="{A4162E69-9DDE-45C7-8ED9-62BC543DA44D}"/>
                      </a:ext>
                    </a:extLst>
                  </p:cNvPr>
                  <p:cNvSpPr/>
                  <p:nvPr/>
                </p:nvSpPr>
                <p:spPr>
                  <a:xfrm>
                    <a:off x="1161928" y="2357963"/>
                    <a:ext cx="1375200" cy="2754848"/>
                  </a:xfrm>
                  <a:prstGeom prst="roundRect">
                    <a:avLst>
                      <a:gd name="adj" fmla="val 502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149" name="组合 148">
                    <a:extLst>
                      <a:ext uri="{FF2B5EF4-FFF2-40B4-BE49-F238E27FC236}">
                        <a16:creationId xmlns:a16="http://schemas.microsoft.com/office/drawing/2014/main" id="{93C989D7-8FFD-4AF3-81F3-03E4A1522F76}"/>
                      </a:ext>
                    </a:extLst>
                  </p:cNvPr>
                  <p:cNvGrpSpPr/>
                  <p:nvPr/>
                </p:nvGrpSpPr>
                <p:grpSpPr>
                  <a:xfrm>
                    <a:off x="1290580" y="2939781"/>
                    <a:ext cx="1096891" cy="1696851"/>
                    <a:chOff x="1290580" y="2939781"/>
                    <a:chExt cx="1096891" cy="1696851"/>
                  </a:xfrm>
                </p:grpSpPr>
                <p:sp>
                  <p:nvSpPr>
                    <p:cNvPr id="150" name="矩形 149">
                      <a:extLst>
                        <a:ext uri="{FF2B5EF4-FFF2-40B4-BE49-F238E27FC236}">
                          <a16:creationId xmlns:a16="http://schemas.microsoft.com/office/drawing/2014/main" id="{D60EDF1E-CDE4-44B9-9AF8-93163BB279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9524" y="2939781"/>
                      <a:ext cx="1087947" cy="6449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800" dirty="0"/>
                        <a:t>习作要求</a:t>
                      </a:r>
                      <a:r>
                        <a:rPr lang="en-US" altLang="zh-CN" sz="800" dirty="0"/>
                        <a:t>(Prompt, P)</a:t>
                      </a:r>
                      <a:endParaRPr lang="zh-CN" altLang="en-US" sz="800" dirty="0"/>
                    </a:p>
                  </p:txBody>
                </p:sp>
                <p:sp>
                  <p:nvSpPr>
                    <p:cNvPr id="151" name="矩形 150">
                      <a:extLst>
                        <a:ext uri="{FF2B5EF4-FFF2-40B4-BE49-F238E27FC236}">
                          <a16:creationId xmlns:a16="http://schemas.microsoft.com/office/drawing/2014/main" id="{48E97B0F-AB73-4CCA-A719-6FF20F2EA7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0580" y="3991667"/>
                      <a:ext cx="1087947" cy="6449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800" dirty="0"/>
                        <a:t>正文</a:t>
                      </a:r>
                      <a:endParaRPr lang="en-US" altLang="zh-CN" sz="800" dirty="0"/>
                    </a:p>
                    <a:p>
                      <a:pPr algn="ctr"/>
                      <a:r>
                        <a:rPr lang="en-US" altLang="zh-CN" sz="800" dirty="0"/>
                        <a:t>(Content, C)</a:t>
                      </a:r>
                      <a:endParaRPr lang="zh-CN" altLang="en-US" sz="800" dirty="0"/>
                    </a:p>
                  </p:txBody>
                </p:sp>
              </p:grpSp>
            </p:grpSp>
          </p:grpSp>
          <p:grpSp>
            <p:nvGrpSpPr>
              <p:cNvPr id="155" name="组合 154">
                <a:extLst>
                  <a:ext uri="{FF2B5EF4-FFF2-40B4-BE49-F238E27FC236}">
                    <a16:creationId xmlns:a16="http://schemas.microsoft.com/office/drawing/2014/main" id="{EF18C3CA-59F2-4D25-B202-3133A507ED65}"/>
                  </a:ext>
                </a:extLst>
              </p:cNvPr>
              <p:cNvGrpSpPr/>
              <p:nvPr/>
            </p:nvGrpSpPr>
            <p:grpSpPr>
              <a:xfrm>
                <a:off x="6668026" y="2512124"/>
                <a:ext cx="5411102" cy="1920991"/>
                <a:chOff x="6668026" y="2512124"/>
                <a:chExt cx="5411102" cy="1920991"/>
              </a:xfrm>
            </p:grpSpPr>
            <p:sp>
              <p:nvSpPr>
                <p:cNvPr id="153" name="矩形: 圆角 152">
                  <a:extLst>
                    <a:ext uri="{FF2B5EF4-FFF2-40B4-BE49-F238E27FC236}">
                      <a16:creationId xmlns:a16="http://schemas.microsoft.com/office/drawing/2014/main" id="{E9B48F9F-8DB7-4392-80F8-ED1EFB4F45E1}"/>
                    </a:ext>
                  </a:extLst>
                </p:cNvPr>
                <p:cNvSpPr/>
                <p:nvPr/>
              </p:nvSpPr>
              <p:spPr>
                <a:xfrm>
                  <a:off x="6668026" y="2512124"/>
                  <a:ext cx="5411102" cy="1920991"/>
                </a:xfrm>
                <a:prstGeom prst="roundRect">
                  <a:avLst>
                    <a:gd name="adj" fmla="val 4537"/>
                  </a:avLst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矩形 153">
                  <a:extLst>
                    <a:ext uri="{FF2B5EF4-FFF2-40B4-BE49-F238E27FC236}">
                      <a16:creationId xmlns:a16="http://schemas.microsoft.com/office/drawing/2014/main" id="{AFC1D890-3FDB-4432-AA09-5C774B80F8E4}"/>
                    </a:ext>
                  </a:extLst>
                </p:cNvPr>
                <p:cNvSpPr/>
                <p:nvPr/>
              </p:nvSpPr>
              <p:spPr>
                <a:xfrm>
                  <a:off x="6738326" y="2552822"/>
                  <a:ext cx="10800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zh-CN" altLang="en-US" sz="800" b="1" dirty="0">
                      <a:solidFill>
                        <a:schemeClr val="tx1"/>
                      </a:solidFill>
                    </a:rPr>
                    <a:t>习作要求</a:t>
                  </a:r>
                  <a:r>
                    <a:rPr lang="en-US" altLang="zh-CN" sz="800" b="1" dirty="0">
                      <a:solidFill>
                        <a:schemeClr val="tx1"/>
                      </a:solidFill>
                    </a:rPr>
                    <a:t>-</a:t>
                  </a:r>
                  <a:r>
                    <a:rPr lang="zh-CN" altLang="en-US" sz="800" b="1" dirty="0">
                      <a:solidFill>
                        <a:schemeClr val="tx1"/>
                      </a:solidFill>
                    </a:rPr>
                    <a:t>正文匹配</a:t>
                  </a:r>
                </a:p>
              </p:txBody>
            </p:sp>
          </p:grp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409C223B-FC27-4BEB-9D4E-617017E45AF0}"/>
                </a:ext>
              </a:extLst>
            </p:cNvPr>
            <p:cNvGrpSpPr/>
            <p:nvPr/>
          </p:nvGrpSpPr>
          <p:grpSpPr>
            <a:xfrm>
              <a:off x="6656645" y="4583329"/>
              <a:ext cx="5411102" cy="1920991"/>
              <a:chOff x="6668026" y="4499987"/>
              <a:chExt cx="5411102" cy="1920991"/>
            </a:xfrm>
          </p:grpSpPr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D2C63C1C-461B-4F5C-8AF8-1570AD559545}"/>
                  </a:ext>
                </a:extLst>
              </p:cNvPr>
              <p:cNvGrpSpPr/>
              <p:nvPr/>
            </p:nvGrpSpPr>
            <p:grpSpPr>
              <a:xfrm>
                <a:off x="6726678" y="4830000"/>
                <a:ext cx="4260497" cy="1537673"/>
                <a:chOff x="6841737" y="2827103"/>
                <a:chExt cx="4260497" cy="1537673"/>
              </a:xfrm>
            </p:grpSpPr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9684EA2C-CCD7-4A91-BDB3-F9320DE6A5E8}"/>
                    </a:ext>
                  </a:extLst>
                </p:cNvPr>
                <p:cNvSpPr/>
                <p:nvPr/>
              </p:nvSpPr>
              <p:spPr>
                <a:xfrm>
                  <a:off x="8161489" y="3398660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是否有标题</a:t>
                  </a:r>
                </a:p>
              </p:txBody>
            </p: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EFB36350-10B5-4735-A21F-819128BB2E7E}"/>
                    </a:ext>
                  </a:extLst>
                </p:cNvPr>
                <p:cNvSpPr/>
                <p:nvPr/>
              </p:nvSpPr>
              <p:spPr>
                <a:xfrm>
                  <a:off x="8157505" y="4056820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b="1" dirty="0"/>
                    <a:t>无</a:t>
                  </a:r>
                </a:p>
              </p:txBody>
            </p:sp>
            <p:sp>
              <p:nvSpPr>
                <p:cNvPr id="95" name="箭头: 右 94">
                  <a:extLst>
                    <a:ext uri="{FF2B5EF4-FFF2-40B4-BE49-F238E27FC236}">
                      <a16:creationId xmlns:a16="http://schemas.microsoft.com/office/drawing/2014/main" id="{E853A463-7D0E-48B6-933A-8640FC1214D3}"/>
                    </a:ext>
                  </a:extLst>
                </p:cNvPr>
                <p:cNvSpPr/>
                <p:nvPr/>
              </p:nvSpPr>
              <p:spPr>
                <a:xfrm>
                  <a:off x="7810347" y="3483061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" name="箭头: 右 95">
                  <a:extLst>
                    <a:ext uri="{FF2B5EF4-FFF2-40B4-BE49-F238E27FC236}">
                      <a16:creationId xmlns:a16="http://schemas.microsoft.com/office/drawing/2014/main" id="{00B4BBAC-EE36-4B0F-9798-E5DEE97309B9}"/>
                    </a:ext>
                  </a:extLst>
                </p:cNvPr>
                <p:cNvSpPr/>
                <p:nvPr/>
              </p:nvSpPr>
              <p:spPr>
                <a:xfrm>
                  <a:off x="8935301" y="3483061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7" name="箭头: 右 96">
                  <a:extLst>
                    <a:ext uri="{FF2B5EF4-FFF2-40B4-BE49-F238E27FC236}">
                      <a16:creationId xmlns:a16="http://schemas.microsoft.com/office/drawing/2014/main" id="{309AE404-776F-49D0-886C-57D5FFEFD4D6}"/>
                    </a:ext>
                  </a:extLst>
                </p:cNvPr>
                <p:cNvSpPr/>
                <p:nvPr/>
              </p:nvSpPr>
              <p:spPr>
                <a:xfrm rot="5400000">
                  <a:off x="8373505" y="3814588"/>
                  <a:ext cx="288000" cy="136800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45D0EBBD-B5BB-4C12-A45D-295144EB5E51}"/>
                    </a:ext>
                  </a:extLst>
                </p:cNvPr>
                <p:cNvSpPr/>
                <p:nvPr/>
              </p:nvSpPr>
              <p:spPr>
                <a:xfrm>
                  <a:off x="9268200" y="3390352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离题检测模块</a:t>
                  </a:r>
                </a:p>
              </p:txBody>
            </p:sp>
            <p:sp>
              <p:nvSpPr>
                <p:cNvPr id="99" name="箭头: 右 98">
                  <a:extLst>
                    <a:ext uri="{FF2B5EF4-FFF2-40B4-BE49-F238E27FC236}">
                      <a16:creationId xmlns:a16="http://schemas.microsoft.com/office/drawing/2014/main" id="{7C1196CB-CF55-4891-8C6E-6DF892036E51}"/>
                    </a:ext>
                  </a:extLst>
                </p:cNvPr>
                <p:cNvSpPr/>
                <p:nvPr/>
              </p:nvSpPr>
              <p:spPr>
                <a:xfrm>
                  <a:off x="10049257" y="3476451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CD9494DD-C66C-45F6-84D7-5D3802EFE813}"/>
                    </a:ext>
                  </a:extLst>
                </p:cNvPr>
                <p:cNvSpPr/>
                <p:nvPr/>
              </p:nvSpPr>
              <p:spPr>
                <a:xfrm>
                  <a:off x="10382234" y="3398660"/>
                  <a:ext cx="720000" cy="288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优</a:t>
                  </a:r>
                  <a:r>
                    <a:rPr lang="en-US" altLang="zh-CN" sz="800" dirty="0"/>
                    <a:t>/</a:t>
                  </a:r>
                  <a:r>
                    <a:rPr lang="zh-CN" altLang="en-US" sz="800" dirty="0"/>
                    <a:t>良</a:t>
                  </a:r>
                  <a:r>
                    <a:rPr lang="en-US" altLang="zh-CN" sz="800" dirty="0"/>
                    <a:t>/</a:t>
                  </a:r>
                  <a:r>
                    <a:rPr lang="zh-CN" altLang="en-US" sz="800" dirty="0"/>
                    <a:t>中</a:t>
                  </a:r>
                </a:p>
              </p:txBody>
            </p:sp>
            <p:grpSp>
              <p:nvGrpSpPr>
                <p:cNvPr id="103" name="组合 102">
                  <a:extLst>
                    <a:ext uri="{FF2B5EF4-FFF2-40B4-BE49-F238E27FC236}">
                      <a16:creationId xmlns:a16="http://schemas.microsoft.com/office/drawing/2014/main" id="{A9D8AFF4-3613-4611-A2BF-5EE97FD94DD3}"/>
                    </a:ext>
                  </a:extLst>
                </p:cNvPr>
                <p:cNvGrpSpPr/>
                <p:nvPr/>
              </p:nvGrpSpPr>
              <p:grpSpPr>
                <a:xfrm>
                  <a:off x="6841737" y="2827103"/>
                  <a:ext cx="910103" cy="1537673"/>
                  <a:chOff x="1161928" y="2357963"/>
                  <a:chExt cx="1375200" cy="2754848"/>
                </a:xfrm>
              </p:grpSpPr>
              <p:sp>
                <p:nvSpPr>
                  <p:cNvPr id="108" name="矩形: 圆角 107">
                    <a:extLst>
                      <a:ext uri="{FF2B5EF4-FFF2-40B4-BE49-F238E27FC236}">
                        <a16:creationId xmlns:a16="http://schemas.microsoft.com/office/drawing/2014/main" id="{E2220335-2BC1-46B0-B8E3-91113306546B}"/>
                      </a:ext>
                    </a:extLst>
                  </p:cNvPr>
                  <p:cNvSpPr/>
                  <p:nvPr/>
                </p:nvSpPr>
                <p:spPr>
                  <a:xfrm>
                    <a:off x="1161928" y="2357963"/>
                    <a:ext cx="1375200" cy="2754848"/>
                  </a:xfrm>
                  <a:prstGeom prst="roundRect">
                    <a:avLst>
                      <a:gd name="adj" fmla="val 502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109" name="组合 108">
                    <a:extLst>
                      <a:ext uri="{FF2B5EF4-FFF2-40B4-BE49-F238E27FC236}">
                        <a16:creationId xmlns:a16="http://schemas.microsoft.com/office/drawing/2014/main" id="{F90134A2-8600-44AA-8219-65B75FAF621C}"/>
                      </a:ext>
                    </a:extLst>
                  </p:cNvPr>
                  <p:cNvGrpSpPr/>
                  <p:nvPr/>
                </p:nvGrpSpPr>
                <p:grpSpPr>
                  <a:xfrm>
                    <a:off x="1290580" y="2939781"/>
                    <a:ext cx="1096891" cy="1696851"/>
                    <a:chOff x="1290580" y="2939781"/>
                    <a:chExt cx="1096891" cy="1696851"/>
                  </a:xfrm>
                </p:grpSpPr>
                <p:sp>
                  <p:nvSpPr>
                    <p:cNvPr id="110" name="矩形 109">
                      <a:extLst>
                        <a:ext uri="{FF2B5EF4-FFF2-40B4-BE49-F238E27FC236}">
                          <a16:creationId xmlns:a16="http://schemas.microsoft.com/office/drawing/2014/main" id="{DDF485B2-F77C-44CF-9239-36C7E19450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9524" y="2939781"/>
                      <a:ext cx="1087947" cy="6449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800" dirty="0"/>
                        <a:t>标题</a:t>
                      </a:r>
                      <a:endParaRPr lang="en-US" altLang="zh-CN" sz="800" dirty="0"/>
                    </a:p>
                    <a:p>
                      <a:pPr algn="ctr"/>
                      <a:r>
                        <a:rPr lang="en-US" altLang="zh-CN" sz="800" dirty="0"/>
                        <a:t>(Title, T)</a:t>
                      </a:r>
                      <a:endParaRPr lang="zh-CN" altLang="en-US" sz="800" dirty="0"/>
                    </a:p>
                  </p:txBody>
                </p:sp>
                <p:sp>
                  <p:nvSpPr>
                    <p:cNvPr id="111" name="矩形 110">
                      <a:extLst>
                        <a:ext uri="{FF2B5EF4-FFF2-40B4-BE49-F238E27FC236}">
                          <a16:creationId xmlns:a16="http://schemas.microsoft.com/office/drawing/2014/main" id="{0D589FD4-043D-4DFD-B59A-7A1A432CF8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0580" y="3991667"/>
                      <a:ext cx="1087947" cy="6449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800" dirty="0"/>
                        <a:t>正文</a:t>
                      </a:r>
                      <a:endParaRPr lang="en-US" altLang="zh-CN" sz="800" dirty="0"/>
                    </a:p>
                    <a:p>
                      <a:pPr algn="ctr"/>
                      <a:r>
                        <a:rPr lang="en-US" altLang="zh-CN" sz="800" dirty="0"/>
                        <a:t>(Content, C)</a:t>
                      </a:r>
                      <a:endParaRPr lang="zh-CN" altLang="en-US" sz="800" dirty="0"/>
                    </a:p>
                  </p:txBody>
                </p:sp>
              </p:grpSp>
            </p:grpSp>
          </p:grpSp>
          <p:grpSp>
            <p:nvGrpSpPr>
              <p:cNvPr id="156" name="组合 155">
                <a:extLst>
                  <a:ext uri="{FF2B5EF4-FFF2-40B4-BE49-F238E27FC236}">
                    <a16:creationId xmlns:a16="http://schemas.microsoft.com/office/drawing/2014/main" id="{DAD245B0-25C6-4B4C-A665-05E0986380CB}"/>
                  </a:ext>
                </a:extLst>
              </p:cNvPr>
              <p:cNvGrpSpPr/>
              <p:nvPr/>
            </p:nvGrpSpPr>
            <p:grpSpPr>
              <a:xfrm>
                <a:off x="6668026" y="4499987"/>
                <a:ext cx="5411102" cy="1920991"/>
                <a:chOff x="6668026" y="2512124"/>
                <a:chExt cx="5411102" cy="1920991"/>
              </a:xfrm>
            </p:grpSpPr>
            <p:sp>
              <p:nvSpPr>
                <p:cNvPr id="157" name="矩形: 圆角 156">
                  <a:extLst>
                    <a:ext uri="{FF2B5EF4-FFF2-40B4-BE49-F238E27FC236}">
                      <a16:creationId xmlns:a16="http://schemas.microsoft.com/office/drawing/2014/main" id="{60534071-D100-4798-ADDD-27B8F1944140}"/>
                    </a:ext>
                  </a:extLst>
                </p:cNvPr>
                <p:cNvSpPr/>
                <p:nvPr/>
              </p:nvSpPr>
              <p:spPr>
                <a:xfrm>
                  <a:off x="6668026" y="2512124"/>
                  <a:ext cx="5411102" cy="1920991"/>
                </a:xfrm>
                <a:prstGeom prst="roundRect">
                  <a:avLst>
                    <a:gd name="adj" fmla="val 4537"/>
                  </a:avLst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8" name="矩形 157">
                  <a:extLst>
                    <a:ext uri="{FF2B5EF4-FFF2-40B4-BE49-F238E27FC236}">
                      <a16:creationId xmlns:a16="http://schemas.microsoft.com/office/drawing/2014/main" id="{0C56C676-303F-48F7-99F7-37B5617FED77}"/>
                    </a:ext>
                  </a:extLst>
                </p:cNvPr>
                <p:cNvSpPr/>
                <p:nvPr/>
              </p:nvSpPr>
              <p:spPr>
                <a:xfrm>
                  <a:off x="6738326" y="2552822"/>
                  <a:ext cx="10800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zh-CN" altLang="en-US" sz="800" b="1" dirty="0">
                      <a:solidFill>
                        <a:schemeClr val="tx1"/>
                      </a:solidFill>
                    </a:rPr>
                    <a:t>标题</a:t>
                  </a:r>
                  <a:r>
                    <a:rPr lang="en-US" altLang="zh-CN" sz="800" b="1" dirty="0">
                      <a:solidFill>
                        <a:schemeClr val="tx1"/>
                      </a:solidFill>
                    </a:rPr>
                    <a:t>-</a:t>
                  </a:r>
                  <a:r>
                    <a:rPr lang="zh-CN" altLang="en-US" sz="800" b="1" dirty="0">
                      <a:solidFill>
                        <a:schemeClr val="tx1"/>
                      </a:solidFill>
                    </a:rPr>
                    <a:t>正文匹配</a:t>
                  </a:r>
                </a:p>
              </p:txBody>
            </p:sp>
          </p:grp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D5EF4645-5CBB-4F23-81EA-C8F03FFE10E9}"/>
                </a:ext>
              </a:extLst>
            </p:cNvPr>
            <p:cNvGrpSpPr/>
            <p:nvPr/>
          </p:nvGrpSpPr>
          <p:grpSpPr>
            <a:xfrm>
              <a:off x="6656645" y="549248"/>
              <a:ext cx="5411102" cy="1920991"/>
              <a:chOff x="6656645" y="549248"/>
              <a:chExt cx="5411102" cy="1920991"/>
            </a:xfrm>
          </p:grpSpPr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C353E587-523F-4256-95B6-AEDA606362EB}"/>
                  </a:ext>
                </a:extLst>
              </p:cNvPr>
              <p:cNvGrpSpPr/>
              <p:nvPr/>
            </p:nvGrpSpPr>
            <p:grpSpPr>
              <a:xfrm>
                <a:off x="6715030" y="881389"/>
                <a:ext cx="4641488" cy="1537673"/>
                <a:chOff x="6847255" y="1060513"/>
                <a:chExt cx="4641488" cy="1537673"/>
              </a:xfrm>
            </p:grpSpPr>
            <p:grpSp>
              <p:nvGrpSpPr>
                <p:cNvPr id="113" name="组合 112">
                  <a:extLst>
                    <a:ext uri="{FF2B5EF4-FFF2-40B4-BE49-F238E27FC236}">
                      <a16:creationId xmlns:a16="http://schemas.microsoft.com/office/drawing/2014/main" id="{66EC415E-9AA1-40CB-95C1-711A8B057098}"/>
                    </a:ext>
                  </a:extLst>
                </p:cNvPr>
                <p:cNvGrpSpPr/>
                <p:nvPr/>
              </p:nvGrpSpPr>
              <p:grpSpPr>
                <a:xfrm>
                  <a:off x="6847255" y="1060513"/>
                  <a:ext cx="910103" cy="1537673"/>
                  <a:chOff x="1161928" y="2357963"/>
                  <a:chExt cx="1375200" cy="2754848"/>
                </a:xfrm>
              </p:grpSpPr>
              <p:sp>
                <p:nvSpPr>
                  <p:cNvPr id="128" name="矩形: 圆角 127">
                    <a:extLst>
                      <a:ext uri="{FF2B5EF4-FFF2-40B4-BE49-F238E27FC236}">
                        <a16:creationId xmlns:a16="http://schemas.microsoft.com/office/drawing/2014/main" id="{8210B15A-B9A6-4282-9E19-394F29F34130}"/>
                      </a:ext>
                    </a:extLst>
                  </p:cNvPr>
                  <p:cNvSpPr/>
                  <p:nvPr/>
                </p:nvSpPr>
                <p:spPr>
                  <a:xfrm>
                    <a:off x="1161928" y="2357963"/>
                    <a:ext cx="1375200" cy="2754848"/>
                  </a:xfrm>
                  <a:prstGeom prst="roundRect">
                    <a:avLst>
                      <a:gd name="adj" fmla="val 502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129" name="组合 128">
                    <a:extLst>
                      <a:ext uri="{FF2B5EF4-FFF2-40B4-BE49-F238E27FC236}">
                        <a16:creationId xmlns:a16="http://schemas.microsoft.com/office/drawing/2014/main" id="{3DC9981D-1304-4441-BA64-2234DB44CA5B}"/>
                      </a:ext>
                    </a:extLst>
                  </p:cNvPr>
                  <p:cNvGrpSpPr/>
                  <p:nvPr/>
                </p:nvGrpSpPr>
                <p:grpSpPr>
                  <a:xfrm>
                    <a:off x="1290580" y="2939781"/>
                    <a:ext cx="1096891" cy="1696851"/>
                    <a:chOff x="1290580" y="2939781"/>
                    <a:chExt cx="1096891" cy="1696851"/>
                  </a:xfrm>
                </p:grpSpPr>
                <p:sp>
                  <p:nvSpPr>
                    <p:cNvPr id="130" name="矩形 129">
                      <a:extLst>
                        <a:ext uri="{FF2B5EF4-FFF2-40B4-BE49-F238E27FC236}">
                          <a16:creationId xmlns:a16="http://schemas.microsoft.com/office/drawing/2014/main" id="{6F901EB6-C27D-4493-8170-DBC3A577F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9524" y="2939781"/>
                      <a:ext cx="1087947" cy="6449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800" dirty="0"/>
                        <a:t>习作要求</a:t>
                      </a:r>
                      <a:r>
                        <a:rPr lang="en-US" altLang="zh-CN" sz="800" dirty="0"/>
                        <a:t>(Prompt, P)</a:t>
                      </a:r>
                      <a:endParaRPr lang="zh-CN" altLang="en-US" sz="800" dirty="0"/>
                    </a:p>
                  </p:txBody>
                </p:sp>
                <p:sp>
                  <p:nvSpPr>
                    <p:cNvPr id="131" name="矩形 130">
                      <a:extLst>
                        <a:ext uri="{FF2B5EF4-FFF2-40B4-BE49-F238E27FC236}">
                          <a16:creationId xmlns:a16="http://schemas.microsoft.com/office/drawing/2014/main" id="{10E477F1-FA65-44C7-99F7-C5CF9508A6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0580" y="3991667"/>
                      <a:ext cx="1087947" cy="64496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800" dirty="0"/>
                        <a:t>标题</a:t>
                      </a:r>
                      <a:endParaRPr lang="en-US" altLang="zh-CN" sz="800" dirty="0"/>
                    </a:p>
                    <a:p>
                      <a:pPr algn="ctr"/>
                      <a:r>
                        <a:rPr lang="en-US" altLang="zh-CN" sz="800" dirty="0"/>
                        <a:t>(Title, T)</a:t>
                      </a:r>
                      <a:endParaRPr lang="zh-CN" altLang="en-US" sz="800" dirty="0"/>
                    </a:p>
                  </p:txBody>
                </p:sp>
              </p:grpSp>
            </p:grpSp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02FB4875-ACA5-4460-9ED9-B6838A5849D6}"/>
                    </a:ext>
                  </a:extLst>
                </p:cNvPr>
                <p:cNvSpPr/>
                <p:nvPr/>
              </p:nvSpPr>
              <p:spPr>
                <a:xfrm>
                  <a:off x="8201806" y="1408184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格式</a:t>
                  </a:r>
                </a:p>
              </p:txBody>
            </p:sp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C975516D-20CA-4C4D-9C3A-F08898BD271E}"/>
                    </a:ext>
                  </a:extLst>
                </p:cNvPr>
                <p:cNvSpPr/>
                <p:nvPr/>
              </p:nvSpPr>
              <p:spPr>
                <a:xfrm>
                  <a:off x="8207765" y="2227654"/>
                  <a:ext cx="720000" cy="288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dirty="0"/>
                    <a:t>内容</a:t>
                  </a:r>
                </a:p>
              </p:txBody>
            </p:sp>
            <p:grpSp>
              <p:nvGrpSpPr>
                <p:cNvPr id="116" name="组合 115">
                  <a:extLst>
                    <a:ext uri="{FF2B5EF4-FFF2-40B4-BE49-F238E27FC236}">
                      <a16:creationId xmlns:a16="http://schemas.microsoft.com/office/drawing/2014/main" id="{BE9FACA8-A3CA-44F7-9B16-ABAEFA93F098}"/>
                    </a:ext>
                  </a:extLst>
                </p:cNvPr>
                <p:cNvGrpSpPr/>
                <p:nvPr/>
              </p:nvGrpSpPr>
              <p:grpSpPr>
                <a:xfrm>
                  <a:off x="9390223" y="1061517"/>
                  <a:ext cx="910103" cy="1011496"/>
                  <a:chOff x="9412385" y="1055967"/>
                  <a:chExt cx="910103" cy="1011496"/>
                </a:xfrm>
              </p:grpSpPr>
              <p:sp>
                <p:nvSpPr>
                  <p:cNvPr id="124" name="矩形: 圆角 123">
                    <a:extLst>
                      <a:ext uri="{FF2B5EF4-FFF2-40B4-BE49-F238E27FC236}">
                        <a16:creationId xmlns:a16="http://schemas.microsoft.com/office/drawing/2014/main" id="{565FB767-C309-459C-A040-3E7E9F6F2DDE}"/>
                      </a:ext>
                    </a:extLst>
                  </p:cNvPr>
                  <p:cNvSpPr/>
                  <p:nvPr/>
                </p:nvSpPr>
                <p:spPr>
                  <a:xfrm>
                    <a:off x="9412385" y="1055967"/>
                    <a:ext cx="910103" cy="1011496"/>
                  </a:xfrm>
                  <a:prstGeom prst="roundRect">
                    <a:avLst>
                      <a:gd name="adj" fmla="val 3552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5" name="矩形 124">
                    <a:extLst>
                      <a:ext uri="{FF2B5EF4-FFF2-40B4-BE49-F238E27FC236}">
                        <a16:creationId xmlns:a16="http://schemas.microsoft.com/office/drawing/2014/main" id="{2F8755C0-F62B-4F91-B27A-16DBD6D1AD58}"/>
                      </a:ext>
                    </a:extLst>
                  </p:cNvPr>
                  <p:cNvSpPr/>
                  <p:nvPr/>
                </p:nvSpPr>
                <p:spPr>
                  <a:xfrm>
                    <a:off x="9504668" y="1097266"/>
                    <a:ext cx="720000" cy="288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800" dirty="0"/>
                      <a:t>命题作文</a:t>
                    </a:r>
                    <a:endParaRPr lang="en-US" altLang="zh-CN" sz="800" dirty="0"/>
                  </a:p>
                </p:txBody>
              </p:sp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1DAC29FC-6BE9-4E76-8524-4FB8ADF227FD}"/>
                      </a:ext>
                    </a:extLst>
                  </p:cNvPr>
                  <p:cNvSpPr/>
                  <p:nvPr/>
                </p:nvSpPr>
                <p:spPr>
                  <a:xfrm>
                    <a:off x="9504668" y="1414066"/>
                    <a:ext cx="720000" cy="288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800" dirty="0"/>
                      <a:t>半命题作文</a:t>
                    </a:r>
                  </a:p>
                </p:txBody>
              </p:sp>
              <p:sp>
                <p:nvSpPr>
                  <p:cNvPr id="127" name="矩形 126">
                    <a:extLst>
                      <a:ext uri="{FF2B5EF4-FFF2-40B4-BE49-F238E27FC236}">
                        <a16:creationId xmlns:a16="http://schemas.microsoft.com/office/drawing/2014/main" id="{9FB0CCD6-895F-4214-90C8-902798737A85}"/>
                      </a:ext>
                    </a:extLst>
                  </p:cNvPr>
                  <p:cNvSpPr/>
                  <p:nvPr/>
                </p:nvSpPr>
                <p:spPr>
                  <a:xfrm>
                    <a:off x="9504668" y="1730866"/>
                    <a:ext cx="720000" cy="288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800" dirty="0"/>
                      <a:t>自拟题目</a:t>
                    </a:r>
                  </a:p>
                </p:txBody>
              </p:sp>
            </p:grpSp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0E6C35C2-C23F-48F2-B70C-D7A4686C89A7}"/>
                    </a:ext>
                  </a:extLst>
                </p:cNvPr>
                <p:cNvSpPr/>
                <p:nvPr/>
              </p:nvSpPr>
              <p:spPr>
                <a:xfrm>
                  <a:off x="10768743" y="1419616"/>
                  <a:ext cx="720000" cy="2880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b="1" dirty="0"/>
                    <a:t>格式检查模块</a:t>
                  </a:r>
                </a:p>
              </p:txBody>
            </p:sp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54B40762-3110-414D-8421-185D15D2731C}"/>
                    </a:ext>
                  </a:extLst>
                </p:cNvPr>
                <p:cNvSpPr/>
                <p:nvPr/>
              </p:nvSpPr>
              <p:spPr>
                <a:xfrm>
                  <a:off x="9501899" y="2227654"/>
                  <a:ext cx="720000" cy="288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800" b="1" dirty="0"/>
                    <a:t>暂时不做</a:t>
                  </a:r>
                </a:p>
              </p:txBody>
            </p:sp>
            <p:sp>
              <p:nvSpPr>
                <p:cNvPr id="119" name="箭头: 右 118">
                  <a:extLst>
                    <a:ext uri="{FF2B5EF4-FFF2-40B4-BE49-F238E27FC236}">
                      <a16:creationId xmlns:a16="http://schemas.microsoft.com/office/drawing/2014/main" id="{E4962762-FBD7-471E-B4AB-71FFE22D0815}"/>
                    </a:ext>
                  </a:extLst>
                </p:cNvPr>
                <p:cNvSpPr/>
                <p:nvPr/>
              </p:nvSpPr>
              <p:spPr>
                <a:xfrm>
                  <a:off x="7834953" y="1484106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0" name="箭头: 右 119">
                  <a:extLst>
                    <a:ext uri="{FF2B5EF4-FFF2-40B4-BE49-F238E27FC236}">
                      <a16:creationId xmlns:a16="http://schemas.microsoft.com/office/drawing/2014/main" id="{6AEFCCA4-3E7D-469F-B5D5-F97BAA063487}"/>
                    </a:ext>
                  </a:extLst>
                </p:cNvPr>
                <p:cNvSpPr/>
                <p:nvPr/>
              </p:nvSpPr>
              <p:spPr>
                <a:xfrm>
                  <a:off x="7839469" y="2303576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1" name="箭头: 右 120">
                  <a:extLst>
                    <a:ext uri="{FF2B5EF4-FFF2-40B4-BE49-F238E27FC236}">
                      <a16:creationId xmlns:a16="http://schemas.microsoft.com/office/drawing/2014/main" id="{BB5B1200-3F83-47C2-A8B6-8101E744CC39}"/>
                    </a:ext>
                  </a:extLst>
                </p:cNvPr>
                <p:cNvSpPr/>
                <p:nvPr/>
              </p:nvSpPr>
              <p:spPr>
                <a:xfrm>
                  <a:off x="8999271" y="1484106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2" name="箭头: 右 121">
                  <a:extLst>
                    <a:ext uri="{FF2B5EF4-FFF2-40B4-BE49-F238E27FC236}">
                      <a16:creationId xmlns:a16="http://schemas.microsoft.com/office/drawing/2014/main" id="{C0D2855A-0085-4F32-AEB9-DFE0E04D82B0}"/>
                    </a:ext>
                  </a:extLst>
                </p:cNvPr>
                <p:cNvSpPr/>
                <p:nvPr/>
              </p:nvSpPr>
              <p:spPr>
                <a:xfrm>
                  <a:off x="8999271" y="2300312"/>
                  <a:ext cx="289257" cy="136156"/>
                </a:xfrm>
                <a:prstGeom prst="rightArrow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3" name="箭头: 右 122">
                  <a:extLst>
                    <a:ext uri="{FF2B5EF4-FFF2-40B4-BE49-F238E27FC236}">
                      <a16:creationId xmlns:a16="http://schemas.microsoft.com/office/drawing/2014/main" id="{8F602E0C-3FE5-4690-A142-1F9DA3F06BE8}"/>
                    </a:ext>
                  </a:extLst>
                </p:cNvPr>
                <p:cNvSpPr/>
                <p:nvPr/>
              </p:nvSpPr>
              <p:spPr>
                <a:xfrm>
                  <a:off x="10386044" y="1484106"/>
                  <a:ext cx="289257" cy="136156"/>
                </a:xfrm>
                <a:prstGeom prst="right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6F002D0B-939C-429C-A036-749DADE3D784}"/>
                  </a:ext>
                </a:extLst>
              </p:cNvPr>
              <p:cNvGrpSpPr/>
              <p:nvPr/>
            </p:nvGrpSpPr>
            <p:grpSpPr>
              <a:xfrm>
                <a:off x="6656645" y="549248"/>
                <a:ext cx="5411102" cy="1920991"/>
                <a:chOff x="6668026" y="2512124"/>
                <a:chExt cx="5411102" cy="1920991"/>
              </a:xfrm>
            </p:grpSpPr>
            <p:sp>
              <p:nvSpPr>
                <p:cNvPr id="160" name="矩形: 圆角 159">
                  <a:extLst>
                    <a:ext uri="{FF2B5EF4-FFF2-40B4-BE49-F238E27FC236}">
                      <a16:creationId xmlns:a16="http://schemas.microsoft.com/office/drawing/2014/main" id="{9CBAE9C0-7859-4B42-960E-6C353C7C949E}"/>
                    </a:ext>
                  </a:extLst>
                </p:cNvPr>
                <p:cNvSpPr/>
                <p:nvPr/>
              </p:nvSpPr>
              <p:spPr>
                <a:xfrm>
                  <a:off x="6668026" y="2512124"/>
                  <a:ext cx="5411102" cy="1920991"/>
                </a:xfrm>
                <a:prstGeom prst="roundRect">
                  <a:avLst>
                    <a:gd name="adj" fmla="val 4537"/>
                  </a:avLst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8444A2B1-0711-40FB-A851-C18E90A581B4}"/>
                    </a:ext>
                  </a:extLst>
                </p:cNvPr>
                <p:cNvSpPr/>
                <p:nvPr/>
              </p:nvSpPr>
              <p:spPr>
                <a:xfrm>
                  <a:off x="6738326" y="2552822"/>
                  <a:ext cx="10800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zh-CN" altLang="en-US" sz="800" b="1" dirty="0">
                      <a:solidFill>
                        <a:schemeClr val="tx1"/>
                      </a:solidFill>
                    </a:rPr>
                    <a:t>习作要求</a:t>
                  </a:r>
                  <a:r>
                    <a:rPr lang="en-US" altLang="zh-CN" sz="800" b="1" dirty="0">
                      <a:solidFill>
                        <a:schemeClr val="tx1"/>
                      </a:solidFill>
                    </a:rPr>
                    <a:t>-</a:t>
                  </a:r>
                  <a:r>
                    <a:rPr lang="zh-CN" altLang="en-US" sz="800" b="1" dirty="0">
                      <a:solidFill>
                        <a:schemeClr val="tx1"/>
                      </a:solidFill>
                    </a:rPr>
                    <a:t>标题匹配</a:t>
                  </a:r>
                </a:p>
              </p:txBody>
            </p:sp>
          </p:grpSp>
        </p:grpSp>
      </p:grpSp>
      <p:sp>
        <p:nvSpPr>
          <p:cNvPr id="166" name="箭头: 左右 165">
            <a:extLst>
              <a:ext uri="{FF2B5EF4-FFF2-40B4-BE49-F238E27FC236}">
                <a16:creationId xmlns:a16="http://schemas.microsoft.com/office/drawing/2014/main" id="{6D34EA57-18C0-4A0A-B8A2-21D2DA7CE6C4}"/>
              </a:ext>
            </a:extLst>
          </p:cNvPr>
          <p:cNvSpPr/>
          <p:nvPr/>
        </p:nvSpPr>
        <p:spPr>
          <a:xfrm>
            <a:off x="6191129" y="2823255"/>
            <a:ext cx="397521" cy="2160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C6B1381-5ED7-4369-94B8-6095E6AF1938}"/>
              </a:ext>
            </a:extLst>
          </p:cNvPr>
          <p:cNvGrpSpPr/>
          <p:nvPr/>
        </p:nvGrpSpPr>
        <p:grpSpPr>
          <a:xfrm>
            <a:off x="139357" y="1152561"/>
            <a:ext cx="1970922" cy="3616853"/>
            <a:chOff x="139357" y="1152561"/>
            <a:chExt cx="1970922" cy="3616853"/>
          </a:xfrm>
        </p:grpSpPr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51004F7F-8EA2-4459-9127-57D31E09E2DA}"/>
                </a:ext>
              </a:extLst>
            </p:cNvPr>
            <p:cNvSpPr/>
            <p:nvPr/>
          </p:nvSpPr>
          <p:spPr>
            <a:xfrm>
              <a:off x="279133" y="1454597"/>
              <a:ext cx="1656000" cy="1186639"/>
            </a:xfrm>
            <a:prstGeom prst="roundRect">
              <a:avLst>
                <a:gd name="adj" fmla="val 5710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  <a:t>要求选择一个同学，用几句话或一段话写一写他。不能在文中出现他的名字，但是要让别人读了你写的内容，能猜出你写的是谁。</a:t>
              </a:r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0C10707A-2B58-40C0-A323-2CAC5116B014}"/>
                </a:ext>
              </a:extLst>
            </p:cNvPr>
            <p:cNvSpPr/>
            <p:nvPr/>
          </p:nvSpPr>
          <p:spPr>
            <a:xfrm>
              <a:off x="279133" y="2932730"/>
              <a:ext cx="1656000" cy="365955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  <a:t>猜猜他是谁</a:t>
              </a:r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5D73B41A-F0F9-4FE6-9101-78F72F84805E}"/>
                </a:ext>
              </a:extLst>
            </p:cNvPr>
            <p:cNvSpPr/>
            <p:nvPr/>
          </p:nvSpPr>
          <p:spPr>
            <a:xfrm>
              <a:off x="284954" y="3561357"/>
              <a:ext cx="1656000" cy="1092182"/>
            </a:xfrm>
            <a:prstGeom prst="roundRect">
              <a:avLst>
                <a:gd name="adj" fmla="val 5491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100" b="1" i="0" u="none" strike="noStrike" dirty="0">
                  <a:solidFill>
                    <a:schemeClr val="accent1">
                      <a:lumMod val="75000"/>
                    </a:schemeClr>
                  </a:solidFill>
                  <a:effectLst/>
                  <a:latin typeface="+mj-ea"/>
                  <a:ea typeface="+mj-ea"/>
                </a:rPr>
                <a:t>    </a:t>
              </a:r>
              <a: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  <a:t>我们班有一个女生，你能猜猜她是谁吗？</a:t>
              </a:r>
              <a:b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  <a:t>    </a:t>
              </a:r>
              <a:r>
                <a:rPr lang="en-US" altLang="zh-CN" sz="1100" dirty="0">
                  <a:solidFill>
                    <a:schemeClr val="accent1">
                      <a:lumMod val="75000"/>
                    </a:schemeClr>
                  </a:solidFill>
                </a:rPr>
                <a:t>……</a:t>
              </a:r>
              <a:b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zh-CN" altLang="en-US" sz="1100" dirty="0">
                  <a:solidFill>
                    <a:schemeClr val="accent1">
                      <a:lumMod val="75000"/>
                    </a:schemeClr>
                  </a:solidFill>
                </a:rPr>
                <a:t>    你猜出来了吗？那个人是你吗同学？ </a:t>
              </a: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B2CDA86C-2DBA-4F4E-8229-5BDDA4BA1DAF}"/>
                </a:ext>
              </a:extLst>
            </p:cNvPr>
            <p:cNvSpPr/>
            <p:nvPr/>
          </p:nvSpPr>
          <p:spPr>
            <a:xfrm>
              <a:off x="273308" y="1152561"/>
              <a:ext cx="1656499" cy="285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800" b="1" dirty="0">
                  <a:solidFill>
                    <a:schemeClr val="tx1"/>
                  </a:solidFill>
                </a:rPr>
                <a:t>习作要求</a:t>
              </a:r>
              <a:r>
                <a:rPr lang="en-US" altLang="zh-CN" sz="800" b="1" dirty="0">
                  <a:solidFill>
                    <a:schemeClr val="tx1"/>
                  </a:solidFill>
                </a:rPr>
                <a:t>(Prompt, P)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A8DDFEFE-91B3-456E-B7CA-91D05CB280BC}"/>
                </a:ext>
              </a:extLst>
            </p:cNvPr>
            <p:cNvSpPr/>
            <p:nvPr/>
          </p:nvSpPr>
          <p:spPr>
            <a:xfrm>
              <a:off x="272014" y="2647543"/>
              <a:ext cx="1656499" cy="285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800" b="1" dirty="0">
                  <a:solidFill>
                    <a:schemeClr val="tx1"/>
                  </a:solidFill>
                </a:rPr>
                <a:t>标题</a:t>
              </a:r>
              <a:r>
                <a:rPr lang="en-US" altLang="zh-CN" sz="800" b="1" dirty="0">
                  <a:solidFill>
                    <a:schemeClr val="tx1"/>
                  </a:solidFill>
                </a:rPr>
                <a:t>(Title, T)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A2FEFDA6-C020-40C1-B8AE-526E74142506}"/>
                </a:ext>
              </a:extLst>
            </p:cNvPr>
            <p:cNvSpPr/>
            <p:nvPr/>
          </p:nvSpPr>
          <p:spPr>
            <a:xfrm>
              <a:off x="272986" y="3306654"/>
              <a:ext cx="1656499" cy="285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800" b="1" dirty="0">
                  <a:solidFill>
                    <a:schemeClr val="tx1"/>
                  </a:solidFill>
                </a:rPr>
                <a:t>正文</a:t>
              </a:r>
              <a:r>
                <a:rPr lang="en-US" altLang="zh-CN" sz="800" b="1" dirty="0">
                  <a:solidFill>
                    <a:schemeClr val="tx1"/>
                  </a:solidFill>
                </a:rPr>
                <a:t>(Content, C)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AE2A5FA3-4DD7-4A38-8850-3BF4FF2ED447}"/>
                </a:ext>
              </a:extLst>
            </p:cNvPr>
            <p:cNvSpPr/>
            <p:nvPr/>
          </p:nvSpPr>
          <p:spPr>
            <a:xfrm>
              <a:off x="139357" y="1152561"/>
              <a:ext cx="1970922" cy="3616853"/>
            </a:xfrm>
            <a:prstGeom prst="roundRect">
              <a:avLst>
                <a:gd name="adj" fmla="val 307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93C8543-AE64-4E8A-BCD6-9F11E6725804}"/>
              </a:ext>
            </a:extLst>
          </p:cNvPr>
          <p:cNvSpPr txBox="1"/>
          <p:nvPr/>
        </p:nvSpPr>
        <p:spPr>
          <a:xfrm>
            <a:off x="5127077" y="478192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总评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9BBC97-0873-4F57-97BC-9FA2C5230AB8}"/>
              </a:ext>
            </a:extLst>
          </p:cNvPr>
          <p:cNvSpPr txBox="1"/>
          <p:nvPr/>
        </p:nvSpPr>
        <p:spPr>
          <a:xfrm>
            <a:off x="6173756" y="244118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任务</a:t>
            </a:r>
            <a:endParaRPr lang="en-US" altLang="zh-CN" sz="1000" dirty="0"/>
          </a:p>
          <a:p>
            <a:r>
              <a:rPr lang="zh-CN" altLang="en-US" sz="1000" dirty="0"/>
              <a:t>流程</a:t>
            </a:r>
          </a:p>
        </p:txBody>
      </p:sp>
    </p:spTree>
    <p:extLst>
      <p:ext uri="{BB962C8B-B14F-4D97-AF65-F5344CB8AC3E}">
        <p14:creationId xmlns:p14="http://schemas.microsoft.com/office/powerpoint/2010/main" val="12732735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520BA-7CEF-4006-9FB3-7E940E00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测试集标注情况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703F3A5F-B7B5-454E-BDFB-6FF05958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6B8C7-EAB8-4BB7-8D96-2A40AEFCA681}" type="datetime1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E5D2D7B-E80B-4A94-9CED-BAC75DC8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F496E-534B-4221-A80D-10439A4B5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标注情况</a:t>
            </a:r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743400A3-E943-4832-817E-4599FEE32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215717"/>
              </p:ext>
            </p:extLst>
          </p:nvPr>
        </p:nvGraphicFramePr>
        <p:xfrm>
          <a:off x="6226593" y="3644521"/>
          <a:ext cx="5796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688999817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2664167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574382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05023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98931856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87945517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1010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407</a:t>
                      </a:r>
                      <a:r>
                        <a:rPr lang="zh-CN" altLang="en-US" sz="1100" b="1" dirty="0"/>
                        <a:t>篇</a:t>
                      </a:r>
                      <a:r>
                        <a:rPr lang="en-US" altLang="zh-CN" sz="1100" b="1" dirty="0"/>
                        <a:t>(199+208)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一致率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跨二档率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74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1-</a:t>
                      </a:r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0.6855(279)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0.0172(7)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950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人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1-</a:t>
                      </a:r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0.8329(339)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0.0074(3)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1091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仲裁</a:t>
                      </a:r>
                      <a:endParaRPr lang="zh-CN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人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2-</a:t>
                      </a:r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0.8182(333)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0.0049(2)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1607030"/>
                  </a:ext>
                </a:extLst>
              </a:tr>
            </a:tbl>
          </a:graphicData>
        </a:graphic>
      </p:graphicFrame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0D19E501-B3AF-42F5-83BA-3358DE7B9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553563"/>
              </p:ext>
            </p:extLst>
          </p:nvPr>
        </p:nvGraphicFramePr>
        <p:xfrm>
          <a:off x="140793" y="2090041"/>
          <a:ext cx="5796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688999817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2664167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574382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05023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98931856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87945517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1010903"/>
                    </a:ext>
                  </a:extLst>
                </a:gridCol>
              </a:tblGrid>
              <a:tr h="2525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208</a:t>
                      </a:r>
                      <a:r>
                        <a:rPr lang="zh-CN" altLang="en-US" sz="1100" b="1" dirty="0"/>
                        <a:t>篇原始数据</a:t>
                      </a:r>
                      <a:endParaRPr lang="en-US" altLang="zh-CN" sz="1100" b="1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一致率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跨二档率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74969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1(Y)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1-</a:t>
                      </a:r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0.8606(179)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0.0144(3)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95058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2(W)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1-</a:t>
                      </a:r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0.9519(198)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0.0144(3)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10916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188(2)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9(7)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2-</a:t>
                      </a:r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0.8990(187)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0.0000(0)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1607030"/>
                  </a:ext>
                </a:extLst>
              </a:tr>
            </a:tbl>
          </a:graphicData>
        </a:graphic>
      </p:graphicFrame>
      <p:graphicFrame>
        <p:nvGraphicFramePr>
          <p:cNvPr id="13" name="表格 4">
            <a:extLst>
              <a:ext uri="{FF2B5EF4-FFF2-40B4-BE49-F238E27FC236}">
                <a16:creationId xmlns:a16="http://schemas.microsoft.com/office/drawing/2014/main" id="{6C85131C-2173-41C9-BAED-8CCED6B2F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583698"/>
              </p:ext>
            </p:extLst>
          </p:nvPr>
        </p:nvGraphicFramePr>
        <p:xfrm>
          <a:off x="140793" y="3644521"/>
          <a:ext cx="5796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688999817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2664167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574382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05023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98931856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87945517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1010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416</a:t>
                      </a:r>
                      <a:r>
                        <a:rPr lang="zh-CN" altLang="en-US" sz="1100" b="1" dirty="0"/>
                        <a:t>篇</a:t>
                      </a:r>
                      <a:r>
                        <a:rPr lang="en-US" altLang="zh-CN" sz="1100" b="1" dirty="0"/>
                        <a:t>(208+208)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一致率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跨二档率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74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1-</a:t>
                      </a:r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0.6755(281)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0.0168(7)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950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人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1-</a:t>
                      </a:r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0.8269(344)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0.0096(4)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1091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人</a:t>
                      </a:r>
                      <a:r>
                        <a:rPr lang="en-US" altLang="zh-CN" sz="1100" b="1" dirty="0">
                          <a:solidFill>
                            <a:schemeClr val="tx1"/>
                          </a:solidFill>
                        </a:rPr>
                        <a:t>2-</a:t>
                      </a:r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0.8053(335)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0.0072(3)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1607030"/>
                  </a:ext>
                </a:extLst>
              </a:tr>
            </a:tbl>
          </a:graphicData>
        </a:graphic>
      </p:graphicFrame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4DE4B28F-8C94-4212-BDF6-7CF4B67F1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681724"/>
              </p:ext>
            </p:extLst>
          </p:nvPr>
        </p:nvGraphicFramePr>
        <p:xfrm>
          <a:off x="6226593" y="2090041"/>
          <a:ext cx="5796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688999817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2664167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574382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050236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98931856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87945517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71010903"/>
                    </a:ext>
                  </a:extLst>
                </a:gridCol>
              </a:tblGrid>
              <a:tr h="2525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208</a:t>
                      </a:r>
                      <a:r>
                        <a:rPr lang="zh-CN" altLang="en-US" sz="1100" b="1" dirty="0"/>
                        <a:t>篇构造数据</a:t>
                      </a:r>
                      <a:endParaRPr lang="en-US" altLang="zh-CN" sz="1100" b="1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一致率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跨二档率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74969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1(Y)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1-</a:t>
                      </a:r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0.4904(102)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0.0192(4)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95058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2(W)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1-</a:t>
                      </a:r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0.7163(149)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0.0048(1)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10916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人</a:t>
                      </a:r>
                      <a:r>
                        <a:rPr lang="en-US" altLang="zh-CN" sz="1100" b="1" dirty="0"/>
                        <a:t>2-</a:t>
                      </a:r>
                      <a:r>
                        <a:rPr lang="zh-CN" altLang="en-US" sz="1100" b="1" dirty="0"/>
                        <a:t>仲裁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0.7115(148)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0.0096(2)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1607030"/>
                  </a:ext>
                </a:extLst>
              </a:tr>
            </a:tbl>
          </a:graphicData>
        </a:graphic>
      </p:graphicFrame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17EDAB4-F320-4C42-AE85-401E5A047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022066"/>
              </p:ext>
            </p:extLst>
          </p:nvPr>
        </p:nvGraphicFramePr>
        <p:xfrm>
          <a:off x="3306000" y="5014701"/>
          <a:ext cx="558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3008138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93904641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95518586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42064922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84384247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CN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Acc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Marco-F1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相关系数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9282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习作要求</a:t>
                      </a:r>
                      <a:r>
                        <a:rPr lang="en-US" altLang="zh-CN" sz="1100" dirty="0"/>
                        <a:t>-</a:t>
                      </a:r>
                      <a:r>
                        <a:rPr lang="zh-CN" altLang="en-US" sz="1100" dirty="0"/>
                        <a:t>正文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0.9287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0.5743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41187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题目正文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0.0172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50454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符合题意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0.6953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6707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43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197E03F-F3F9-49E9-93D8-48B55B6F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习作要求</a:t>
            </a:r>
            <a:r>
              <a:rPr lang="en-US" altLang="zh-CN" dirty="0"/>
              <a:t>-</a:t>
            </a:r>
            <a:r>
              <a:rPr lang="zh-CN" altLang="en-US" dirty="0"/>
              <a:t>作文信息统计（粗略统计）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784830-ECB0-4C78-B63D-716B3A6A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DE22-5817-46C0-80E9-A3D6E9FBA666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E0876-5847-416B-843E-41A1AFE4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D2B65A12-4DC5-4919-8897-1C4AFA11B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792323"/>
              </p:ext>
            </p:extLst>
          </p:nvPr>
        </p:nvGraphicFramePr>
        <p:xfrm>
          <a:off x="221736" y="2931081"/>
          <a:ext cx="54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84920097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78286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63181566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66836764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8567535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26904066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208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篇构造作文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作文数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9786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1979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649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90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208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058993"/>
                  </a:ext>
                </a:extLst>
              </a:tr>
            </a:tbl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1E3EA2B5-B487-4804-9E89-6520834A0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423585"/>
              </p:ext>
            </p:extLst>
          </p:nvPr>
        </p:nvGraphicFramePr>
        <p:xfrm>
          <a:off x="221736" y="1419081"/>
          <a:ext cx="54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84920097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78286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63181566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66836764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8567535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26904066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篇原始作文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作文数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9786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1979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649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90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186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05899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CBA1F13-5412-49C1-BE58-AD751ACF7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090937"/>
              </p:ext>
            </p:extLst>
          </p:nvPr>
        </p:nvGraphicFramePr>
        <p:xfrm>
          <a:off x="221736" y="4443081"/>
          <a:ext cx="54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84920097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78286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63181566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66836764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85675350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26904066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篇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作文数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仲裁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39786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1979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649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自命题作文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90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407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127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058993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2724E05F-AC64-47AC-8EB1-627BFBB1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478" y="196265"/>
            <a:ext cx="3420000" cy="30453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A07427-7760-4566-81CC-A36487EB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478" y="3393853"/>
            <a:ext cx="3420000" cy="33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7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D3AF11-6430-4E74-B2AE-50BB10442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" y="3250661"/>
            <a:ext cx="3039649" cy="3600199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ACE9ACF8-E9E7-47AF-B0DA-1D669786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BASELINE</a:t>
            </a:r>
            <a:r>
              <a:rPr lang="zh-CN" altLang="en-US" dirty="0"/>
              <a:t>方案图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DB476E9-77B2-4C9B-97CC-83413BEE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216DC42-28BC-4096-9B7B-168A8E73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05AFF3C-1BB0-4CD7-9F0B-548B8F1760F1}"/>
              </a:ext>
            </a:extLst>
          </p:cNvPr>
          <p:cNvGrpSpPr/>
          <p:nvPr/>
        </p:nvGrpSpPr>
        <p:grpSpPr>
          <a:xfrm>
            <a:off x="1676327" y="1567418"/>
            <a:ext cx="8839346" cy="1457746"/>
            <a:chOff x="268940" y="3685049"/>
            <a:chExt cx="10864687" cy="1535663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BB5C7C5-5B7D-439B-9381-CB9DE383D7BD}"/>
                </a:ext>
              </a:extLst>
            </p:cNvPr>
            <p:cNvGrpSpPr/>
            <p:nvPr/>
          </p:nvGrpSpPr>
          <p:grpSpPr>
            <a:xfrm>
              <a:off x="268940" y="3685049"/>
              <a:ext cx="10864687" cy="1535663"/>
              <a:chOff x="268940" y="3685049"/>
              <a:chExt cx="10864687" cy="1535663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328F9CD-8A7F-48C0-BAFC-6C359C3CD8ED}"/>
                  </a:ext>
                </a:extLst>
              </p:cNvPr>
              <p:cNvSpPr/>
              <p:nvPr/>
            </p:nvSpPr>
            <p:spPr>
              <a:xfrm>
                <a:off x="268940" y="4189687"/>
                <a:ext cx="815789" cy="513603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作文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460BB36-7CEE-46BA-8763-2A2C7BF16D9E}"/>
                  </a:ext>
                </a:extLst>
              </p:cNvPr>
              <p:cNvSpPr/>
              <p:nvPr/>
            </p:nvSpPr>
            <p:spPr>
              <a:xfrm>
                <a:off x="1637963" y="3685049"/>
                <a:ext cx="1800000" cy="5136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TFIDF</a:t>
                </a:r>
                <a:r>
                  <a:rPr lang="zh-CN" altLang="en-US" sz="1100" dirty="0"/>
                  <a:t>提取模块</a:t>
                </a: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0101E75-95B3-4788-977A-8051B2DA063C}"/>
                  </a:ext>
                </a:extLst>
              </p:cNvPr>
              <p:cNvSpPr/>
              <p:nvPr/>
            </p:nvSpPr>
            <p:spPr>
              <a:xfrm>
                <a:off x="6750664" y="4189687"/>
                <a:ext cx="2124000" cy="5136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OffTopicChecker</a:t>
                </a:r>
                <a:endParaRPr lang="zh-CN" altLang="en-US" sz="1200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F16EAB8-7D2B-4516-9B18-EDCD39E2BC63}"/>
                  </a:ext>
                </a:extLst>
              </p:cNvPr>
              <p:cNvSpPr/>
              <p:nvPr/>
            </p:nvSpPr>
            <p:spPr>
              <a:xfrm>
                <a:off x="1637963" y="4707109"/>
                <a:ext cx="1800000" cy="5136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主题词提取模块</a:t>
                </a:r>
              </a:p>
            </p:txBody>
          </p:sp>
          <p:sp>
            <p:nvSpPr>
              <p:cNvPr id="37" name="流程图: 接点 36">
                <a:extLst>
                  <a:ext uri="{FF2B5EF4-FFF2-40B4-BE49-F238E27FC236}">
                    <a16:creationId xmlns:a16="http://schemas.microsoft.com/office/drawing/2014/main" id="{4B611980-B029-4206-8B85-0BCC2A5CF5A3}"/>
                  </a:ext>
                </a:extLst>
              </p:cNvPr>
              <p:cNvSpPr/>
              <p:nvPr/>
            </p:nvSpPr>
            <p:spPr>
              <a:xfrm>
                <a:off x="6022229" y="4322311"/>
                <a:ext cx="252000" cy="252000"/>
              </a:xfrm>
              <a:prstGeom prst="flowChartConnector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cxnSp>
            <p:nvCxnSpPr>
              <p:cNvPr id="38" name="连接符: 肘形 37">
                <a:extLst>
                  <a:ext uri="{FF2B5EF4-FFF2-40B4-BE49-F238E27FC236}">
                    <a16:creationId xmlns:a16="http://schemas.microsoft.com/office/drawing/2014/main" id="{8C84AF45-1A64-4A9E-A262-8103A527888E}"/>
                  </a:ext>
                </a:extLst>
              </p:cNvPr>
              <p:cNvCxnSpPr>
                <a:cxnSpLocks/>
                <a:stCxn id="33" idx="3"/>
                <a:endCxn id="34" idx="1"/>
              </p:cNvCxnSpPr>
              <p:nvPr/>
            </p:nvCxnSpPr>
            <p:spPr>
              <a:xfrm flipV="1">
                <a:off x="1084729" y="3941851"/>
                <a:ext cx="553234" cy="504638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连接符: 肘形 38">
                <a:extLst>
                  <a:ext uri="{FF2B5EF4-FFF2-40B4-BE49-F238E27FC236}">
                    <a16:creationId xmlns:a16="http://schemas.microsoft.com/office/drawing/2014/main" id="{0A96DD3A-DAC5-4082-B296-F934FEC44364}"/>
                  </a:ext>
                </a:extLst>
              </p:cNvPr>
              <p:cNvCxnSpPr>
                <a:cxnSpLocks/>
                <a:stCxn id="33" idx="3"/>
                <a:endCxn id="36" idx="1"/>
              </p:cNvCxnSpPr>
              <p:nvPr/>
            </p:nvCxnSpPr>
            <p:spPr>
              <a:xfrm>
                <a:off x="1084729" y="4446489"/>
                <a:ext cx="553234" cy="517422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70F7E5E8-CEBD-449B-951E-31E9061F3C5B}"/>
                  </a:ext>
                </a:extLst>
              </p:cNvPr>
              <p:cNvSpPr/>
              <p:nvPr/>
            </p:nvSpPr>
            <p:spPr>
              <a:xfrm>
                <a:off x="3698410" y="3685049"/>
                <a:ext cx="1800000" cy="5136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相似度计算模型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C1F8BFF-95F8-43C6-B1F1-FCD5B8FBB404}"/>
                  </a:ext>
                </a:extLst>
              </p:cNvPr>
              <p:cNvSpPr/>
              <p:nvPr/>
            </p:nvSpPr>
            <p:spPr>
              <a:xfrm>
                <a:off x="3698410" y="4703290"/>
                <a:ext cx="1800000" cy="51360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相似度计算模型</a:t>
                </a:r>
              </a:p>
            </p:txBody>
          </p:sp>
          <p:sp>
            <p:nvSpPr>
              <p:cNvPr id="42" name="箭头: 左右 41">
                <a:extLst>
                  <a:ext uri="{FF2B5EF4-FFF2-40B4-BE49-F238E27FC236}">
                    <a16:creationId xmlns:a16="http://schemas.microsoft.com/office/drawing/2014/main" id="{F5FB12B5-7488-4CED-96C3-9554698366B9}"/>
                  </a:ext>
                </a:extLst>
              </p:cNvPr>
              <p:cNvSpPr/>
              <p:nvPr/>
            </p:nvSpPr>
            <p:spPr>
              <a:xfrm rot="5400000">
                <a:off x="4472409" y="4371663"/>
                <a:ext cx="252000" cy="130801"/>
              </a:xfrm>
              <a:prstGeom prst="leftRightArrow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32AA8769-DC07-4CE3-B36D-9CE23A393797}"/>
                  </a:ext>
                </a:extLst>
              </p:cNvPr>
              <p:cNvCxnSpPr>
                <a:cxnSpLocks/>
                <a:stCxn id="34" idx="3"/>
                <a:endCxn id="40" idx="1"/>
              </p:cNvCxnSpPr>
              <p:nvPr/>
            </p:nvCxnSpPr>
            <p:spPr>
              <a:xfrm>
                <a:off x="3437963" y="3941851"/>
                <a:ext cx="26044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7A3246EF-E0D1-4F70-80E1-25889D510571}"/>
                  </a:ext>
                </a:extLst>
              </p:cNvPr>
              <p:cNvCxnSpPr>
                <a:cxnSpLocks/>
                <a:stCxn id="36" idx="3"/>
                <a:endCxn id="41" idx="1"/>
              </p:cNvCxnSpPr>
              <p:nvPr/>
            </p:nvCxnSpPr>
            <p:spPr>
              <a:xfrm flipV="1">
                <a:off x="3437963" y="4960092"/>
                <a:ext cx="260447" cy="38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连接符: 肘形 44">
                <a:extLst>
                  <a:ext uri="{FF2B5EF4-FFF2-40B4-BE49-F238E27FC236}">
                    <a16:creationId xmlns:a16="http://schemas.microsoft.com/office/drawing/2014/main" id="{200AF376-7C92-4F31-BE47-55132F7E7EB2}"/>
                  </a:ext>
                </a:extLst>
              </p:cNvPr>
              <p:cNvCxnSpPr>
                <a:cxnSpLocks/>
                <a:stCxn id="40" idx="3"/>
                <a:endCxn id="37" idx="0"/>
              </p:cNvCxnSpPr>
              <p:nvPr/>
            </p:nvCxnSpPr>
            <p:spPr>
              <a:xfrm>
                <a:off x="5498410" y="3941851"/>
                <a:ext cx="649819" cy="38046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连接符: 肘形 45">
                <a:extLst>
                  <a:ext uri="{FF2B5EF4-FFF2-40B4-BE49-F238E27FC236}">
                    <a16:creationId xmlns:a16="http://schemas.microsoft.com/office/drawing/2014/main" id="{DF80FC2E-BB53-4CC9-8024-D7A22D442F37}"/>
                  </a:ext>
                </a:extLst>
              </p:cNvPr>
              <p:cNvCxnSpPr>
                <a:cxnSpLocks/>
                <a:stCxn id="41" idx="3"/>
                <a:endCxn id="37" idx="4"/>
              </p:cNvCxnSpPr>
              <p:nvPr/>
            </p:nvCxnSpPr>
            <p:spPr>
              <a:xfrm flipV="1">
                <a:off x="5498410" y="4574311"/>
                <a:ext cx="649819" cy="38578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A07F4083-E34D-4668-986E-C0C50E7B0129}"/>
                  </a:ext>
                </a:extLst>
              </p:cNvPr>
              <p:cNvCxnSpPr>
                <a:cxnSpLocks/>
                <a:stCxn id="37" idx="6"/>
                <a:endCxn id="35" idx="1"/>
              </p:cNvCxnSpPr>
              <p:nvPr/>
            </p:nvCxnSpPr>
            <p:spPr>
              <a:xfrm flipV="1">
                <a:off x="6274229" y="4446489"/>
                <a:ext cx="476435" cy="18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960AC28-2354-44F3-8EB8-1FFEDF95F9C5}"/>
                  </a:ext>
                </a:extLst>
              </p:cNvPr>
              <p:cNvSpPr/>
              <p:nvPr/>
            </p:nvSpPr>
            <p:spPr>
              <a:xfrm>
                <a:off x="9343268" y="4194028"/>
                <a:ext cx="1790359" cy="504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/>
                  <a:t>不离题</a:t>
                </a:r>
                <a:r>
                  <a:rPr lang="en-US" altLang="zh-CN" sz="1050" dirty="0"/>
                  <a:t>/</a:t>
                </a:r>
                <a:r>
                  <a:rPr lang="zh-CN" altLang="en-US" sz="1050" dirty="0"/>
                  <a:t>部分离题</a:t>
                </a:r>
                <a:r>
                  <a:rPr lang="en-US" altLang="zh-CN" sz="1050" dirty="0"/>
                  <a:t>/</a:t>
                </a:r>
                <a:r>
                  <a:rPr lang="zh-CN" altLang="en-US" sz="1050" dirty="0"/>
                  <a:t>完全离题</a:t>
                </a:r>
              </a:p>
            </p:txBody>
          </p: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3003EB58-86C7-475A-AACB-D3B98507A5BA}"/>
                  </a:ext>
                </a:extLst>
              </p:cNvPr>
              <p:cNvCxnSpPr>
                <a:cxnSpLocks/>
                <a:stCxn id="35" idx="3"/>
                <a:endCxn id="48" idx="1"/>
              </p:cNvCxnSpPr>
              <p:nvPr/>
            </p:nvCxnSpPr>
            <p:spPr>
              <a:xfrm flipV="1">
                <a:off x="8874664" y="4446028"/>
                <a:ext cx="468604" cy="461"/>
              </a:xfrm>
              <a:prstGeom prst="straightConnector1">
                <a:avLst/>
              </a:prstGeom>
              <a:ln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9D2B24C-8FE6-41DA-984F-3396BAC5EE7E}"/>
                </a:ext>
              </a:extLst>
            </p:cNvPr>
            <p:cNvSpPr txBox="1"/>
            <p:nvPr/>
          </p:nvSpPr>
          <p:spPr>
            <a:xfrm>
              <a:off x="5088150" y="4270169"/>
              <a:ext cx="1060079" cy="386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加权求和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00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>
            <a:extLst>
              <a:ext uri="{FF2B5EF4-FFF2-40B4-BE49-F238E27FC236}">
                <a16:creationId xmlns:a16="http://schemas.microsoft.com/office/drawing/2014/main" id="{C17E656E-E5DC-4639-BAFB-ECD390F5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BERT-Gen HT </a:t>
            </a:r>
            <a:r>
              <a:rPr lang="zh-CN" altLang="en-US" dirty="0"/>
              <a:t>方案图 </a:t>
            </a:r>
            <a:r>
              <a:rPr lang="en-US" altLang="zh-CN" dirty="0"/>
              <a:t>.V3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D8F44F-A498-44B8-8670-B436B0306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6AA36-67CD-41C9-8942-DF33020F558F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83B169-1A95-4B47-AD11-D4C4FFB4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B13ECF9-E2A4-4D2F-9BFB-D7B9A210F9DC}"/>
              </a:ext>
            </a:extLst>
          </p:cNvPr>
          <p:cNvGrpSpPr/>
          <p:nvPr/>
        </p:nvGrpSpPr>
        <p:grpSpPr>
          <a:xfrm>
            <a:off x="1615711" y="1028700"/>
            <a:ext cx="8485787" cy="5042532"/>
            <a:chOff x="838199" y="1028700"/>
            <a:chExt cx="8485787" cy="5042532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2414BF4D-3FE9-4BA6-989E-52160CA73296}"/>
                </a:ext>
              </a:extLst>
            </p:cNvPr>
            <p:cNvGrpSpPr/>
            <p:nvPr/>
          </p:nvGrpSpPr>
          <p:grpSpPr>
            <a:xfrm>
              <a:off x="6538327" y="1028700"/>
              <a:ext cx="2785659" cy="3742880"/>
              <a:chOff x="6628267" y="1725361"/>
              <a:chExt cx="2785659" cy="3742880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DC546CA4-79FF-4449-B10F-E589C3C2C526}"/>
                  </a:ext>
                </a:extLst>
              </p:cNvPr>
              <p:cNvGrpSpPr/>
              <p:nvPr/>
            </p:nvGrpSpPr>
            <p:grpSpPr>
              <a:xfrm>
                <a:off x="6628267" y="1855343"/>
                <a:ext cx="2785659" cy="3612898"/>
                <a:chOff x="6628267" y="1855343"/>
                <a:chExt cx="2785659" cy="3612898"/>
              </a:xfrm>
            </p:grpSpPr>
            <p:sp>
              <p:nvSpPr>
                <p:cNvPr id="308" name="矩形: 圆角 307">
                  <a:extLst>
                    <a:ext uri="{FF2B5EF4-FFF2-40B4-BE49-F238E27FC236}">
                      <a16:creationId xmlns:a16="http://schemas.microsoft.com/office/drawing/2014/main" id="{E72F5DF5-0F7F-4477-A19E-16BA5B8981FF}"/>
                    </a:ext>
                  </a:extLst>
                </p:cNvPr>
                <p:cNvSpPr/>
                <p:nvPr/>
              </p:nvSpPr>
              <p:spPr>
                <a:xfrm>
                  <a:off x="6719980" y="2738626"/>
                  <a:ext cx="2479483" cy="3600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b="1" dirty="0"/>
                    <a:t>Title Encoder</a:t>
                  </a:r>
                  <a:endParaRPr lang="zh-CN" altLang="en-US" sz="1000" b="1" dirty="0"/>
                </a:p>
              </p:txBody>
            </p:sp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519DB21B-4DA5-45D3-99A0-3DD44C2EC31A}"/>
                    </a:ext>
                  </a:extLst>
                </p:cNvPr>
                <p:cNvSpPr txBox="1"/>
                <p:nvPr/>
              </p:nvSpPr>
              <p:spPr>
                <a:xfrm>
                  <a:off x="6628267" y="5129687"/>
                  <a:ext cx="266290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800" b="1" i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Task 3: Identifying whether the title is off-topic </a:t>
                  </a:r>
                </a:p>
                <a:p>
                  <a:pPr algn="ctr"/>
                  <a:r>
                    <a:rPr lang="en-US" altLang="zh-CN" sz="800" b="1" i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according to the similarity of the title</a:t>
                  </a:r>
                  <a:endParaRPr lang="zh-CN" altLang="en-US" sz="800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16" name="组合 415">
                  <a:extLst>
                    <a:ext uri="{FF2B5EF4-FFF2-40B4-BE49-F238E27FC236}">
                      <a16:creationId xmlns:a16="http://schemas.microsoft.com/office/drawing/2014/main" id="{B2D19699-D2AC-44DF-BA28-AFFA7F8B46CB}"/>
                    </a:ext>
                  </a:extLst>
                </p:cNvPr>
                <p:cNvGrpSpPr/>
                <p:nvPr/>
              </p:nvGrpSpPr>
              <p:grpSpPr>
                <a:xfrm>
                  <a:off x="8385468" y="1855343"/>
                  <a:ext cx="815093" cy="542103"/>
                  <a:chOff x="1741170" y="1623217"/>
                  <a:chExt cx="1973580" cy="525600"/>
                </a:xfrm>
              </p:grpSpPr>
              <p:sp>
                <p:nvSpPr>
                  <p:cNvPr id="462" name="矩形: 圆角 461">
                    <a:extLst>
                      <a:ext uri="{FF2B5EF4-FFF2-40B4-BE49-F238E27FC236}">
                        <a16:creationId xmlns:a16="http://schemas.microsoft.com/office/drawing/2014/main" id="{1F8963E5-B300-412B-A840-0AA95297AF79}"/>
                      </a:ext>
                    </a:extLst>
                  </p:cNvPr>
                  <p:cNvSpPr/>
                  <p:nvPr/>
                </p:nvSpPr>
                <p:spPr>
                  <a:xfrm>
                    <a:off x="1840492" y="1886937"/>
                    <a:ext cx="1787612" cy="164787"/>
                  </a:xfrm>
                  <a:prstGeom prst="roundRect">
                    <a:avLst>
                      <a:gd name="adj" fmla="val 5491"/>
                    </a:avLst>
                  </a:prstGeom>
                  <a:solidFill>
                    <a:srgbClr val="92D050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a:t>猜猜他是谁</a:t>
                    </a:r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 </a:t>
                    </a:r>
                  </a:p>
                </p:txBody>
              </p:sp>
              <p:sp>
                <p:nvSpPr>
                  <p:cNvPr id="464" name="矩形 463">
                    <a:extLst>
                      <a:ext uri="{FF2B5EF4-FFF2-40B4-BE49-F238E27FC236}">
                        <a16:creationId xmlns:a16="http://schemas.microsoft.com/office/drawing/2014/main" id="{CFE70ACA-4C5E-48AC-A2D0-54A60671B394}"/>
                      </a:ext>
                    </a:extLst>
                  </p:cNvPr>
                  <p:cNvSpPr/>
                  <p:nvPr/>
                </p:nvSpPr>
                <p:spPr>
                  <a:xfrm>
                    <a:off x="1741170" y="1623217"/>
                    <a:ext cx="1970922" cy="2853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待测作文标题</a:t>
                    </a:r>
                  </a:p>
                </p:txBody>
              </p:sp>
              <p:sp>
                <p:nvSpPr>
                  <p:cNvPr id="465" name="矩形: 圆角 464">
                    <a:extLst>
                      <a:ext uri="{FF2B5EF4-FFF2-40B4-BE49-F238E27FC236}">
                        <a16:creationId xmlns:a16="http://schemas.microsoft.com/office/drawing/2014/main" id="{3A4C7640-492B-4BF3-AF52-55A4B08713DD}"/>
                      </a:ext>
                    </a:extLst>
                  </p:cNvPr>
                  <p:cNvSpPr/>
                  <p:nvPr/>
                </p:nvSpPr>
                <p:spPr>
                  <a:xfrm>
                    <a:off x="1743828" y="1623217"/>
                    <a:ext cx="1970922" cy="525600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22" name="组合 421">
                  <a:extLst>
                    <a:ext uri="{FF2B5EF4-FFF2-40B4-BE49-F238E27FC236}">
                      <a16:creationId xmlns:a16="http://schemas.microsoft.com/office/drawing/2014/main" id="{2E60164B-E181-4DCC-8103-0B485BEEC7CD}"/>
                    </a:ext>
                  </a:extLst>
                </p:cNvPr>
                <p:cNvGrpSpPr/>
                <p:nvPr/>
              </p:nvGrpSpPr>
              <p:grpSpPr>
                <a:xfrm>
                  <a:off x="6719979" y="1855413"/>
                  <a:ext cx="1575609" cy="541964"/>
                  <a:chOff x="4765217" y="2557139"/>
                  <a:chExt cx="1973580" cy="525465"/>
                </a:xfrm>
              </p:grpSpPr>
              <p:sp>
                <p:nvSpPr>
                  <p:cNvPr id="457" name="矩形 456">
                    <a:extLst>
                      <a:ext uri="{FF2B5EF4-FFF2-40B4-BE49-F238E27FC236}">
                        <a16:creationId xmlns:a16="http://schemas.microsoft.com/office/drawing/2014/main" id="{B6E6EE27-147B-4DDC-958A-C4E8BB82DFB8}"/>
                      </a:ext>
                    </a:extLst>
                  </p:cNvPr>
                  <p:cNvSpPr/>
                  <p:nvPr/>
                </p:nvSpPr>
                <p:spPr>
                  <a:xfrm>
                    <a:off x="4765217" y="2557139"/>
                    <a:ext cx="1973580" cy="52546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8" name="矩形: 圆角 457">
                    <a:extLst>
                      <a:ext uri="{FF2B5EF4-FFF2-40B4-BE49-F238E27FC236}">
                        <a16:creationId xmlns:a16="http://schemas.microsoft.com/office/drawing/2014/main" id="{C421E7BC-062F-4426-A27C-70E745710207}"/>
                      </a:ext>
                    </a:extLst>
                  </p:cNvPr>
                  <p:cNvSpPr/>
                  <p:nvPr/>
                </p:nvSpPr>
                <p:spPr>
                  <a:xfrm>
                    <a:off x="4864539" y="2819872"/>
                    <a:ext cx="540000" cy="1696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标题</a:t>
                    </a:r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1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59" name="矩形: 圆角 458">
                    <a:extLst>
                      <a:ext uri="{FF2B5EF4-FFF2-40B4-BE49-F238E27FC236}">
                        <a16:creationId xmlns:a16="http://schemas.microsoft.com/office/drawing/2014/main" id="{FFB142B8-DD45-41C3-92BA-D9BE1E701DDC}"/>
                      </a:ext>
                    </a:extLst>
                  </p:cNvPr>
                  <p:cNvSpPr/>
                  <p:nvPr/>
                </p:nvSpPr>
                <p:spPr>
                  <a:xfrm>
                    <a:off x="5488345" y="2819872"/>
                    <a:ext cx="540000" cy="1696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000" dirty="0">
                        <a:solidFill>
                          <a:schemeClr val="bg1"/>
                        </a:solidFill>
                      </a:rPr>
                      <a:t>… …</a:t>
                    </a:r>
                    <a:endParaRPr lang="zh-CN" altLang="en-US" sz="10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60" name="矩形: 圆角 459">
                    <a:extLst>
                      <a:ext uri="{FF2B5EF4-FFF2-40B4-BE49-F238E27FC236}">
                        <a16:creationId xmlns:a16="http://schemas.microsoft.com/office/drawing/2014/main" id="{C9A0C538-8EB5-4DF4-B9E6-39CE85B3C079}"/>
                      </a:ext>
                    </a:extLst>
                  </p:cNvPr>
                  <p:cNvSpPr/>
                  <p:nvPr/>
                </p:nvSpPr>
                <p:spPr>
                  <a:xfrm>
                    <a:off x="6112151" y="2819872"/>
                    <a:ext cx="540000" cy="1696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标题</a:t>
                    </a:r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n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61" name="矩形 460">
                    <a:extLst>
                      <a:ext uri="{FF2B5EF4-FFF2-40B4-BE49-F238E27FC236}">
                        <a16:creationId xmlns:a16="http://schemas.microsoft.com/office/drawing/2014/main" id="{529015AB-3EFE-473E-814A-0ED838914088}"/>
                      </a:ext>
                    </a:extLst>
                  </p:cNvPr>
                  <p:cNvSpPr/>
                  <p:nvPr/>
                </p:nvSpPr>
                <p:spPr>
                  <a:xfrm>
                    <a:off x="4765217" y="2582945"/>
                    <a:ext cx="1955740" cy="2369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topk</a:t>
                    </a:r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范文标题</a:t>
                    </a:r>
                  </a:p>
                </p:txBody>
              </p:sp>
            </p:grpSp>
            <p:sp>
              <p:nvSpPr>
                <p:cNvPr id="29" name="箭头: 下 28">
                  <a:extLst>
                    <a:ext uri="{FF2B5EF4-FFF2-40B4-BE49-F238E27FC236}">
                      <a16:creationId xmlns:a16="http://schemas.microsoft.com/office/drawing/2014/main" id="{B40CBBA0-C929-452F-B684-FB2F91AD4611}"/>
                    </a:ext>
                  </a:extLst>
                </p:cNvPr>
                <p:cNvSpPr/>
                <p:nvPr/>
              </p:nvSpPr>
              <p:spPr>
                <a:xfrm>
                  <a:off x="7807311" y="2492217"/>
                  <a:ext cx="152410" cy="190483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6" name="箭头: 下 465">
                  <a:extLst>
                    <a:ext uri="{FF2B5EF4-FFF2-40B4-BE49-F238E27FC236}">
                      <a16:creationId xmlns:a16="http://schemas.microsoft.com/office/drawing/2014/main" id="{E9D73741-0334-410D-A706-F520F2A9F7F5}"/>
                    </a:ext>
                  </a:extLst>
                </p:cNvPr>
                <p:cNvSpPr/>
                <p:nvPr/>
              </p:nvSpPr>
              <p:spPr>
                <a:xfrm>
                  <a:off x="7807311" y="3204384"/>
                  <a:ext cx="152410" cy="190483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67" name="组合 466">
                  <a:extLst>
                    <a:ext uri="{FF2B5EF4-FFF2-40B4-BE49-F238E27FC236}">
                      <a16:creationId xmlns:a16="http://schemas.microsoft.com/office/drawing/2014/main" id="{FE108491-5AB4-48F4-B552-AE43C1BE0D15}"/>
                    </a:ext>
                  </a:extLst>
                </p:cNvPr>
                <p:cNvGrpSpPr/>
                <p:nvPr/>
              </p:nvGrpSpPr>
              <p:grpSpPr>
                <a:xfrm>
                  <a:off x="8385468" y="3477378"/>
                  <a:ext cx="815093" cy="542103"/>
                  <a:chOff x="1741170" y="1623217"/>
                  <a:chExt cx="1973580" cy="52560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68" name="矩形: 圆角 467">
                        <a:extLst>
                          <a:ext uri="{FF2B5EF4-FFF2-40B4-BE49-F238E27FC236}">
                            <a16:creationId xmlns:a16="http://schemas.microsoft.com/office/drawing/2014/main" id="{E614F510-A972-4F80-A100-2EB74A17B0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40492" y="1886937"/>
                        <a:ext cx="1787612" cy="164787"/>
                      </a:xfrm>
                      <a:prstGeom prst="roundRect">
                        <a:avLst>
                          <a:gd name="adj" fmla="val 5491"/>
                        </a:avLst>
                      </a:prstGeom>
                      <a:solidFill>
                        <a:srgbClr val="92D050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zh-CN" sz="7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7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7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sz="7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oMath>
                        </a14:m>
                        <a:r>
                          <a:rPr lang="zh-CN" altLang="en-US" sz="700" dirty="0">
                            <a:solidFill>
                              <a:schemeClr val="bg1"/>
                            </a:solidFill>
                          </a:rPr>
                          <a:t> 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468" name="矩形: 圆角 467">
                        <a:extLst>
                          <a:ext uri="{FF2B5EF4-FFF2-40B4-BE49-F238E27FC236}">
                            <a16:creationId xmlns:a16="http://schemas.microsoft.com/office/drawing/2014/main" id="{E614F510-A972-4F80-A100-2EB74A17B0E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40492" y="1886937"/>
                        <a:ext cx="1787612" cy="164787"/>
                      </a:xfrm>
                      <a:prstGeom prst="roundRect">
                        <a:avLst>
                          <a:gd name="adj" fmla="val 5491"/>
                        </a:avLst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69" name="矩形 468">
                    <a:extLst>
                      <a:ext uri="{FF2B5EF4-FFF2-40B4-BE49-F238E27FC236}">
                        <a16:creationId xmlns:a16="http://schemas.microsoft.com/office/drawing/2014/main" id="{2C37F06E-3AB8-4ACF-B649-29F0106E56B5}"/>
                      </a:ext>
                    </a:extLst>
                  </p:cNvPr>
                  <p:cNvSpPr/>
                  <p:nvPr/>
                </p:nvSpPr>
                <p:spPr>
                  <a:xfrm>
                    <a:off x="1741170" y="1623217"/>
                    <a:ext cx="1970922" cy="2853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待测作文标题</a:t>
                    </a:r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HT</a:t>
                    </a:r>
                    <a:endParaRPr lang="zh-CN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0" name="矩形: 圆角 469">
                    <a:extLst>
                      <a:ext uri="{FF2B5EF4-FFF2-40B4-BE49-F238E27FC236}">
                        <a16:creationId xmlns:a16="http://schemas.microsoft.com/office/drawing/2014/main" id="{4009A26A-2BDB-4886-9F8D-964F7490990C}"/>
                      </a:ext>
                    </a:extLst>
                  </p:cNvPr>
                  <p:cNvSpPr/>
                  <p:nvPr/>
                </p:nvSpPr>
                <p:spPr>
                  <a:xfrm>
                    <a:off x="1743828" y="1623217"/>
                    <a:ext cx="1970922" cy="525600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71" name="组合 470">
                  <a:extLst>
                    <a:ext uri="{FF2B5EF4-FFF2-40B4-BE49-F238E27FC236}">
                      <a16:creationId xmlns:a16="http://schemas.microsoft.com/office/drawing/2014/main" id="{E58DE96F-9B0A-42E5-ABC7-441DB93925CD}"/>
                    </a:ext>
                  </a:extLst>
                </p:cNvPr>
                <p:cNvGrpSpPr/>
                <p:nvPr/>
              </p:nvGrpSpPr>
              <p:grpSpPr>
                <a:xfrm>
                  <a:off x="6719979" y="3477448"/>
                  <a:ext cx="1575609" cy="541964"/>
                  <a:chOff x="4765217" y="2557139"/>
                  <a:chExt cx="1973580" cy="525465"/>
                </a:xfrm>
              </p:grpSpPr>
              <p:sp>
                <p:nvSpPr>
                  <p:cNvPr id="472" name="矩形 471">
                    <a:extLst>
                      <a:ext uri="{FF2B5EF4-FFF2-40B4-BE49-F238E27FC236}">
                        <a16:creationId xmlns:a16="http://schemas.microsoft.com/office/drawing/2014/main" id="{484AB680-C8DF-4E7A-AD0D-B68FD516480D}"/>
                      </a:ext>
                    </a:extLst>
                  </p:cNvPr>
                  <p:cNvSpPr/>
                  <p:nvPr/>
                </p:nvSpPr>
                <p:spPr>
                  <a:xfrm>
                    <a:off x="4765217" y="2557139"/>
                    <a:ext cx="1973580" cy="52546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3" name="矩形: 圆角 472">
                        <a:extLst>
                          <a:ext uri="{FF2B5EF4-FFF2-40B4-BE49-F238E27FC236}">
                            <a16:creationId xmlns:a16="http://schemas.microsoft.com/office/drawing/2014/main" id="{25E74A67-39BD-473B-AE24-5CC2013CEC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4539" y="2819872"/>
                        <a:ext cx="540000" cy="169683"/>
                      </a:xfrm>
                      <a:prstGeom prst="round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sz="7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73" name="矩形: 圆角 472">
                        <a:extLst>
                          <a:ext uri="{FF2B5EF4-FFF2-40B4-BE49-F238E27FC236}">
                            <a16:creationId xmlns:a16="http://schemas.microsoft.com/office/drawing/2014/main" id="{25E74A67-39BD-473B-AE24-5CC2013CECA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64539" y="2819872"/>
                        <a:ext cx="540000" cy="169683"/>
                      </a:xfrm>
                      <a:prstGeom prst="round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74" name="矩形: 圆角 473">
                    <a:extLst>
                      <a:ext uri="{FF2B5EF4-FFF2-40B4-BE49-F238E27FC236}">
                        <a16:creationId xmlns:a16="http://schemas.microsoft.com/office/drawing/2014/main" id="{F098CEAB-75E6-45EB-A9F7-91276E2EBD57}"/>
                      </a:ext>
                    </a:extLst>
                  </p:cNvPr>
                  <p:cNvSpPr/>
                  <p:nvPr/>
                </p:nvSpPr>
                <p:spPr>
                  <a:xfrm>
                    <a:off x="5488345" y="2819872"/>
                    <a:ext cx="540000" cy="169683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000" dirty="0">
                        <a:solidFill>
                          <a:schemeClr val="bg1"/>
                        </a:solidFill>
                      </a:rPr>
                      <a:t>… …</a:t>
                    </a:r>
                    <a:endParaRPr lang="zh-CN" altLang="en-US" sz="1000" dirty="0">
                      <a:solidFill>
                        <a:schemeClr val="bg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5" name="矩形: 圆角 474">
                        <a:extLst>
                          <a:ext uri="{FF2B5EF4-FFF2-40B4-BE49-F238E27FC236}">
                            <a16:creationId xmlns:a16="http://schemas.microsoft.com/office/drawing/2014/main" id="{ACB4EB9D-6555-4122-B776-676EC0A348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12151" y="2819872"/>
                        <a:ext cx="540000" cy="169683"/>
                      </a:xfrm>
                      <a:prstGeom prst="round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𝑟𝑘</m:t>
                                  </m:r>
                                </m:sub>
                                <m:sup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zh-CN" altLang="en-US" sz="7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75" name="矩形: 圆角 474">
                        <a:extLst>
                          <a:ext uri="{FF2B5EF4-FFF2-40B4-BE49-F238E27FC236}">
                            <a16:creationId xmlns:a16="http://schemas.microsoft.com/office/drawing/2014/main" id="{ACB4EB9D-6555-4122-B776-676EC0A3488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12151" y="2819872"/>
                        <a:ext cx="540000" cy="169683"/>
                      </a:xfrm>
                      <a:prstGeom prst="round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77" name="矩形 476">
                    <a:extLst>
                      <a:ext uri="{FF2B5EF4-FFF2-40B4-BE49-F238E27FC236}">
                        <a16:creationId xmlns:a16="http://schemas.microsoft.com/office/drawing/2014/main" id="{0D2104FF-31EE-4A16-AD0E-B790270CA2A5}"/>
                      </a:ext>
                    </a:extLst>
                  </p:cNvPr>
                  <p:cNvSpPr/>
                  <p:nvPr/>
                </p:nvSpPr>
                <p:spPr>
                  <a:xfrm>
                    <a:off x="4765217" y="2582945"/>
                    <a:ext cx="1955740" cy="2369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topk</a:t>
                    </a:r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范文标题</a:t>
                    </a:r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HT</a:t>
                    </a:r>
                    <a:endParaRPr lang="zh-CN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40" name="连接符: 曲线 39">
                  <a:extLst>
                    <a:ext uri="{FF2B5EF4-FFF2-40B4-BE49-F238E27FC236}">
                      <a16:creationId xmlns:a16="http://schemas.microsoft.com/office/drawing/2014/main" id="{F1AB778A-4C54-4DE3-AC80-F6862196E941}"/>
                    </a:ext>
                  </a:extLst>
                </p:cNvPr>
                <p:cNvCxnSpPr>
                  <a:cxnSpLocks/>
                  <a:stCxn id="468" idx="2"/>
                  <a:endCxn id="475" idx="2"/>
                </p:cNvCxnSpPr>
                <p:nvPr/>
              </p:nvCxnSpPr>
              <p:spPr>
                <a:xfrm rot="5400000">
                  <a:off x="8401195" y="3529004"/>
                  <a:ext cx="4103" cy="784772"/>
                </a:xfrm>
                <a:prstGeom prst="curvedConnector3">
                  <a:avLst>
                    <a:gd name="adj1" fmla="val 4292956"/>
                  </a:avLst>
                </a:prstGeom>
                <a:ln>
                  <a:prstDash val="dash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连接符: 曲线 42">
                  <a:extLst>
                    <a:ext uri="{FF2B5EF4-FFF2-40B4-BE49-F238E27FC236}">
                      <a16:creationId xmlns:a16="http://schemas.microsoft.com/office/drawing/2014/main" id="{243A55ED-1548-465C-AF2B-DC792DBA83DA}"/>
                    </a:ext>
                  </a:extLst>
                </p:cNvPr>
                <p:cNvCxnSpPr>
                  <a:stCxn id="468" idx="2"/>
                  <a:endCxn id="474" idx="2"/>
                </p:cNvCxnSpPr>
                <p:nvPr/>
              </p:nvCxnSpPr>
              <p:spPr>
                <a:xfrm rot="5400000">
                  <a:off x="8152187" y="3279996"/>
                  <a:ext cx="4103" cy="1282788"/>
                </a:xfrm>
                <a:prstGeom prst="curvedConnector3">
                  <a:avLst>
                    <a:gd name="adj1" fmla="val 6130953"/>
                  </a:avLst>
                </a:prstGeom>
                <a:ln>
                  <a:prstDash val="dash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连接符: 曲线 44">
                  <a:extLst>
                    <a:ext uri="{FF2B5EF4-FFF2-40B4-BE49-F238E27FC236}">
                      <a16:creationId xmlns:a16="http://schemas.microsoft.com/office/drawing/2014/main" id="{3B9D61FD-33E3-4E14-A890-6B4569A8F9AB}"/>
                    </a:ext>
                  </a:extLst>
                </p:cNvPr>
                <p:cNvCxnSpPr>
                  <a:stCxn id="468" idx="2"/>
                  <a:endCxn id="473" idx="2"/>
                </p:cNvCxnSpPr>
                <p:nvPr/>
              </p:nvCxnSpPr>
              <p:spPr>
                <a:xfrm rot="5400000">
                  <a:off x="7903179" y="3030988"/>
                  <a:ext cx="4103" cy="1780804"/>
                </a:xfrm>
                <a:prstGeom prst="curvedConnector3">
                  <a:avLst>
                    <a:gd name="adj1" fmla="val 7739288"/>
                  </a:avLst>
                </a:prstGeom>
                <a:ln>
                  <a:prstDash val="dash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6DF43BD0-22F9-4926-914C-3555743F8C65}"/>
                    </a:ext>
                  </a:extLst>
                </p:cNvPr>
                <p:cNvSpPr txBox="1"/>
                <p:nvPr/>
              </p:nvSpPr>
              <p:spPr>
                <a:xfrm>
                  <a:off x="8171003" y="4178558"/>
                  <a:ext cx="12429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/>
                    <a:t>Cosine similarity</a:t>
                  </a:r>
                  <a:endParaRPr lang="zh-CN" altLang="en-US" sz="1000" dirty="0"/>
                </a:p>
              </p:txBody>
            </p:sp>
            <p:sp>
              <p:nvSpPr>
                <p:cNvPr id="510" name="箭头: 下 509">
                  <a:extLst>
                    <a:ext uri="{FF2B5EF4-FFF2-40B4-BE49-F238E27FC236}">
                      <a16:creationId xmlns:a16="http://schemas.microsoft.com/office/drawing/2014/main" id="{F1187C02-A7CE-4D46-9F17-8BBAF62291D7}"/>
                    </a:ext>
                  </a:extLst>
                </p:cNvPr>
                <p:cNvSpPr/>
                <p:nvPr/>
              </p:nvSpPr>
              <p:spPr>
                <a:xfrm>
                  <a:off x="7807311" y="4414121"/>
                  <a:ext cx="152410" cy="190483"/>
                </a:xfrm>
                <a:prstGeom prst="downArrow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1" name="矩形: 圆角 510">
                  <a:extLst>
                    <a:ext uri="{FF2B5EF4-FFF2-40B4-BE49-F238E27FC236}">
                      <a16:creationId xmlns:a16="http://schemas.microsoft.com/office/drawing/2014/main" id="{9B6EE7F7-A65B-44C8-8B52-24BC6A692EB2}"/>
                    </a:ext>
                  </a:extLst>
                </p:cNvPr>
                <p:cNvSpPr/>
                <p:nvPr/>
              </p:nvSpPr>
              <p:spPr>
                <a:xfrm>
                  <a:off x="7459404" y="4667093"/>
                  <a:ext cx="848224" cy="33222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900" dirty="0"/>
                    <a:t>按照阈值</a:t>
                  </a:r>
                  <a:r>
                    <a:rPr lang="en-US" altLang="zh-CN" sz="900" dirty="0"/>
                    <a:t>t</a:t>
                  </a:r>
                  <a:r>
                    <a:rPr lang="zh-CN" altLang="en-US" sz="900" dirty="0"/>
                    <a:t>判断是否离题</a:t>
                  </a:r>
                </a:p>
              </p:txBody>
            </p:sp>
          </p:grp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0A57182D-0FBF-4EA8-A23C-9A928F306976}"/>
                  </a:ext>
                </a:extLst>
              </p:cNvPr>
              <p:cNvSpPr/>
              <p:nvPr/>
            </p:nvSpPr>
            <p:spPr>
              <a:xfrm>
                <a:off x="6628267" y="1725361"/>
                <a:ext cx="2704476" cy="3742880"/>
              </a:xfrm>
              <a:prstGeom prst="roundRect">
                <a:avLst>
                  <a:gd name="adj" fmla="val 1995"/>
                </a:avLst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CB78557-2597-4EA8-8287-D43371E64BC5}"/>
                </a:ext>
              </a:extLst>
            </p:cNvPr>
            <p:cNvGrpSpPr/>
            <p:nvPr/>
          </p:nvGrpSpPr>
          <p:grpSpPr>
            <a:xfrm>
              <a:off x="838199" y="1028700"/>
              <a:ext cx="5580928" cy="5042532"/>
              <a:chOff x="838199" y="1028700"/>
              <a:chExt cx="5580928" cy="5042532"/>
            </a:xfrm>
          </p:grpSpPr>
          <p:grpSp>
            <p:nvGrpSpPr>
              <p:cNvPr id="487" name="组合 486">
                <a:extLst>
                  <a:ext uri="{FF2B5EF4-FFF2-40B4-BE49-F238E27FC236}">
                    <a16:creationId xmlns:a16="http://schemas.microsoft.com/office/drawing/2014/main" id="{407B7F63-2D3C-4F7C-945C-AB43AA1560F2}"/>
                  </a:ext>
                </a:extLst>
              </p:cNvPr>
              <p:cNvGrpSpPr/>
              <p:nvPr/>
            </p:nvGrpSpPr>
            <p:grpSpPr>
              <a:xfrm>
                <a:off x="2234228" y="4390757"/>
                <a:ext cx="2032928" cy="1680475"/>
                <a:chOff x="590794" y="3282687"/>
                <a:chExt cx="3162510" cy="2218228"/>
              </a:xfrm>
            </p:grpSpPr>
            <p:grpSp>
              <p:nvGrpSpPr>
                <p:cNvPr id="6" name="组合 5">
                  <a:extLst>
                    <a:ext uri="{FF2B5EF4-FFF2-40B4-BE49-F238E27FC236}">
                      <a16:creationId xmlns:a16="http://schemas.microsoft.com/office/drawing/2014/main" id="{E598321E-DC2C-4FF5-98D7-F3BDA9C5AD99}"/>
                    </a:ext>
                  </a:extLst>
                </p:cNvPr>
                <p:cNvGrpSpPr/>
                <p:nvPr/>
              </p:nvGrpSpPr>
              <p:grpSpPr>
                <a:xfrm>
                  <a:off x="838133" y="3282687"/>
                  <a:ext cx="2703102" cy="1717754"/>
                  <a:chOff x="3695437" y="1973785"/>
                  <a:chExt cx="4801126" cy="2910431"/>
                </a:xfrm>
              </p:grpSpPr>
              <p:sp>
                <p:nvSpPr>
                  <p:cNvPr id="186" name="矩形: 圆角 185">
                    <a:extLst>
                      <a:ext uri="{FF2B5EF4-FFF2-40B4-BE49-F238E27FC236}">
                        <a16:creationId xmlns:a16="http://schemas.microsoft.com/office/drawing/2014/main" id="{CCE67CFC-997D-47D0-9FF0-5339ACE28D8F}"/>
                      </a:ext>
                    </a:extLst>
                  </p:cNvPr>
                  <p:cNvSpPr/>
                  <p:nvPr/>
                </p:nvSpPr>
                <p:spPr>
                  <a:xfrm>
                    <a:off x="3695437" y="1973785"/>
                    <a:ext cx="4801126" cy="2910431"/>
                  </a:xfrm>
                  <a:prstGeom prst="roundRect">
                    <a:avLst>
                      <a:gd name="adj" fmla="val 5321"/>
                    </a:avLst>
                  </a:prstGeom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6E48F267-4553-45CB-9B9A-4856C9AEF8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813682" y="2132616"/>
                    <a:ext cx="4564637" cy="259276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4" name="文本框 333">
                  <a:extLst>
                    <a:ext uri="{FF2B5EF4-FFF2-40B4-BE49-F238E27FC236}">
                      <a16:creationId xmlns:a16="http://schemas.microsoft.com/office/drawing/2014/main" id="{B7D5B4D7-0266-479B-AF51-0FFA8BD5D579}"/>
                    </a:ext>
                  </a:extLst>
                </p:cNvPr>
                <p:cNvSpPr txBox="1"/>
                <p:nvPr/>
              </p:nvSpPr>
              <p:spPr>
                <a:xfrm>
                  <a:off x="590794" y="5054024"/>
                  <a:ext cx="3162510" cy="4468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800" b="1" i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Task 1: Train a generative model to </a:t>
                  </a:r>
                </a:p>
                <a:p>
                  <a:pPr algn="ctr"/>
                  <a:r>
                    <a:rPr lang="en-US" altLang="zh-CN" sz="800" b="1" i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Generate title from the text</a:t>
                  </a:r>
                  <a:r>
                    <a:rPr lang="en-US" altLang="zh-CN" sz="800" i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sz="800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44" name="矩形: 圆角 143">
                <a:extLst>
                  <a:ext uri="{FF2B5EF4-FFF2-40B4-BE49-F238E27FC236}">
                    <a16:creationId xmlns:a16="http://schemas.microsoft.com/office/drawing/2014/main" id="{472C4BEB-53E9-49A6-BD14-CEFAFC898498}"/>
                  </a:ext>
                </a:extLst>
              </p:cNvPr>
              <p:cNvSpPr/>
              <p:nvPr/>
            </p:nvSpPr>
            <p:spPr>
              <a:xfrm>
                <a:off x="3100440" y="2722122"/>
                <a:ext cx="308167" cy="905976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00" dirty="0"/>
                  <a:t>Content</a:t>
                </a:r>
              </a:p>
              <a:p>
                <a:pPr algn="ctr"/>
                <a:r>
                  <a:rPr lang="en-US" altLang="zh-CN" sz="1100" dirty="0"/>
                  <a:t>Encoder</a:t>
                </a:r>
                <a:endParaRPr lang="zh-CN" altLang="en-US" sz="1100" dirty="0"/>
              </a:p>
            </p:txBody>
          </p:sp>
          <p:sp>
            <p:nvSpPr>
              <p:cNvPr id="145" name="箭头: 右 144">
                <a:extLst>
                  <a:ext uri="{FF2B5EF4-FFF2-40B4-BE49-F238E27FC236}">
                    <a16:creationId xmlns:a16="http://schemas.microsoft.com/office/drawing/2014/main" id="{92530879-1611-4AB4-8723-32799C324E15}"/>
                  </a:ext>
                </a:extLst>
              </p:cNvPr>
              <p:cNvSpPr/>
              <p:nvPr/>
            </p:nvSpPr>
            <p:spPr>
              <a:xfrm>
                <a:off x="2740718" y="3090218"/>
                <a:ext cx="255330" cy="169784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箭头: 右 145">
                <a:extLst>
                  <a:ext uri="{FF2B5EF4-FFF2-40B4-BE49-F238E27FC236}">
                    <a16:creationId xmlns:a16="http://schemas.microsoft.com/office/drawing/2014/main" id="{B5EAD3D8-9827-413D-ADC3-BD9A53922C26}"/>
                  </a:ext>
                </a:extLst>
              </p:cNvPr>
              <p:cNvSpPr/>
              <p:nvPr/>
            </p:nvSpPr>
            <p:spPr>
              <a:xfrm>
                <a:off x="3517009" y="3090218"/>
                <a:ext cx="255330" cy="169784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438C9566-C979-44CC-9306-E786695BB4EC}"/>
                  </a:ext>
                </a:extLst>
              </p:cNvPr>
              <p:cNvGrpSpPr/>
              <p:nvPr/>
            </p:nvGrpSpPr>
            <p:grpSpPr>
              <a:xfrm>
                <a:off x="994670" y="1512430"/>
                <a:ext cx="1620831" cy="2475683"/>
                <a:chOff x="994670" y="2216864"/>
                <a:chExt cx="1620831" cy="2475683"/>
              </a:xfrm>
            </p:grpSpPr>
            <p:grpSp>
              <p:nvGrpSpPr>
                <p:cNvPr id="184" name="组合 183">
                  <a:extLst>
                    <a:ext uri="{FF2B5EF4-FFF2-40B4-BE49-F238E27FC236}">
                      <a16:creationId xmlns:a16="http://schemas.microsoft.com/office/drawing/2014/main" id="{B57F8BD4-73E7-4FFD-8B1A-5FE19453394C}"/>
                    </a:ext>
                  </a:extLst>
                </p:cNvPr>
                <p:cNvGrpSpPr/>
                <p:nvPr/>
              </p:nvGrpSpPr>
              <p:grpSpPr>
                <a:xfrm>
                  <a:off x="994670" y="4266577"/>
                  <a:ext cx="1612936" cy="425970"/>
                  <a:chOff x="1741170" y="1623217"/>
                  <a:chExt cx="1973580" cy="525600"/>
                </a:xfrm>
              </p:grpSpPr>
              <p:sp>
                <p:nvSpPr>
                  <p:cNvPr id="208" name="矩形: 圆角 207">
                    <a:extLst>
                      <a:ext uri="{FF2B5EF4-FFF2-40B4-BE49-F238E27FC236}">
                        <a16:creationId xmlns:a16="http://schemas.microsoft.com/office/drawing/2014/main" id="{118C507C-3094-4EB7-BAFB-CFC42054D1E7}"/>
                      </a:ext>
                    </a:extLst>
                  </p:cNvPr>
                  <p:cNvSpPr/>
                  <p:nvPr/>
                </p:nvSpPr>
                <p:spPr>
                  <a:xfrm>
                    <a:off x="1840492" y="1886937"/>
                    <a:ext cx="1787612" cy="164787"/>
                  </a:xfrm>
                  <a:prstGeom prst="roundRect">
                    <a:avLst>
                      <a:gd name="adj" fmla="val 5491"/>
                    </a:avLst>
                  </a:prstGeom>
                  <a:solidFill>
                    <a:srgbClr val="92D050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rPr>
                      <a:t>    </a:t>
                    </a:r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我们班有一个女生，</a:t>
                    </a:r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……</a:t>
                    </a:r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 </a:t>
                    </a:r>
                  </a:p>
                </p:txBody>
              </p:sp>
              <p:sp>
                <p:nvSpPr>
                  <p:cNvPr id="209" name="矩形 208">
                    <a:extLst>
                      <a:ext uri="{FF2B5EF4-FFF2-40B4-BE49-F238E27FC236}">
                        <a16:creationId xmlns:a16="http://schemas.microsoft.com/office/drawing/2014/main" id="{1C895467-4C62-42B8-98A9-3B620B23DC09}"/>
                      </a:ext>
                    </a:extLst>
                  </p:cNvPr>
                  <p:cNvSpPr/>
                  <p:nvPr/>
                </p:nvSpPr>
                <p:spPr>
                  <a:xfrm>
                    <a:off x="1741170" y="1623217"/>
                    <a:ext cx="1970922" cy="2853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待测作文正文</a:t>
                    </a:r>
                  </a:p>
                </p:txBody>
              </p:sp>
              <p:sp>
                <p:nvSpPr>
                  <p:cNvPr id="210" name="矩形: 圆角 209">
                    <a:extLst>
                      <a:ext uri="{FF2B5EF4-FFF2-40B4-BE49-F238E27FC236}">
                        <a16:creationId xmlns:a16="http://schemas.microsoft.com/office/drawing/2014/main" id="{50AB61E9-95BC-43DE-B864-C71D14CCC149}"/>
                      </a:ext>
                    </a:extLst>
                  </p:cNvPr>
                  <p:cNvSpPr/>
                  <p:nvPr/>
                </p:nvSpPr>
                <p:spPr>
                  <a:xfrm>
                    <a:off x="1743828" y="1623217"/>
                    <a:ext cx="1970922" cy="525600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" name="组合 3">
                  <a:extLst>
                    <a:ext uri="{FF2B5EF4-FFF2-40B4-BE49-F238E27FC236}">
                      <a16:creationId xmlns:a16="http://schemas.microsoft.com/office/drawing/2014/main" id="{F1C1DC3B-D639-4F5B-A53F-9F73670D95BE}"/>
                    </a:ext>
                  </a:extLst>
                </p:cNvPr>
                <p:cNvGrpSpPr/>
                <p:nvPr/>
              </p:nvGrpSpPr>
              <p:grpSpPr>
                <a:xfrm>
                  <a:off x="1002565" y="2216864"/>
                  <a:ext cx="1612936" cy="1741112"/>
                  <a:chOff x="672808" y="1416867"/>
                  <a:chExt cx="1612936" cy="1741112"/>
                </a:xfrm>
              </p:grpSpPr>
              <p:sp>
                <p:nvSpPr>
                  <p:cNvPr id="203" name="矩形 202">
                    <a:extLst>
                      <a:ext uri="{FF2B5EF4-FFF2-40B4-BE49-F238E27FC236}">
                        <a16:creationId xmlns:a16="http://schemas.microsoft.com/office/drawing/2014/main" id="{1323E21D-9506-43BD-8D3C-D29F788E92E8}"/>
                      </a:ext>
                    </a:extLst>
                  </p:cNvPr>
                  <p:cNvSpPr/>
                  <p:nvPr/>
                </p:nvSpPr>
                <p:spPr>
                  <a:xfrm>
                    <a:off x="672808" y="1416867"/>
                    <a:ext cx="1612936" cy="174111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矩形: 圆角 203">
                    <a:extLst>
                      <a:ext uri="{FF2B5EF4-FFF2-40B4-BE49-F238E27FC236}">
                        <a16:creationId xmlns:a16="http://schemas.microsoft.com/office/drawing/2014/main" id="{ED3F1D1E-053C-484E-8D61-203538BC01B1}"/>
                      </a:ext>
                    </a:extLst>
                  </p:cNvPr>
                  <p:cNvSpPr/>
                  <p:nvPr/>
                </p:nvSpPr>
                <p:spPr>
                  <a:xfrm>
                    <a:off x="768035" y="2682378"/>
                    <a:ext cx="1406693" cy="1904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范文</a:t>
                    </a:r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n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7" name="矩形 206">
                    <a:extLst>
                      <a:ext uri="{FF2B5EF4-FFF2-40B4-BE49-F238E27FC236}">
                        <a16:creationId xmlns:a16="http://schemas.microsoft.com/office/drawing/2014/main" id="{75BB334C-4835-4776-8032-D5DE2D83D1C3}"/>
                      </a:ext>
                    </a:extLst>
                  </p:cNvPr>
                  <p:cNvSpPr/>
                  <p:nvPr/>
                </p:nvSpPr>
                <p:spPr>
                  <a:xfrm>
                    <a:off x="672808" y="1437781"/>
                    <a:ext cx="1598356" cy="1920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范文库（</a:t>
                    </a:r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reference</a:t>
                    </a:r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）</a:t>
                    </a:r>
                  </a:p>
                </p:txBody>
              </p:sp>
              <p:sp>
                <p:nvSpPr>
                  <p:cNvPr id="338" name="矩形: 圆角 337">
                    <a:extLst>
                      <a:ext uri="{FF2B5EF4-FFF2-40B4-BE49-F238E27FC236}">
                        <a16:creationId xmlns:a16="http://schemas.microsoft.com/office/drawing/2014/main" id="{D7929E54-22EE-4B73-8D1C-C13CC37F4CDB}"/>
                      </a:ext>
                    </a:extLst>
                  </p:cNvPr>
                  <p:cNvSpPr/>
                  <p:nvPr/>
                </p:nvSpPr>
                <p:spPr>
                  <a:xfrm>
                    <a:off x="768035" y="2396654"/>
                    <a:ext cx="1406693" cy="1904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… …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39" name="矩形: 圆角 338">
                    <a:extLst>
                      <a:ext uri="{FF2B5EF4-FFF2-40B4-BE49-F238E27FC236}">
                        <a16:creationId xmlns:a16="http://schemas.microsoft.com/office/drawing/2014/main" id="{13B0655A-E811-4B5C-A47D-AD72BB9656A6}"/>
                      </a:ext>
                    </a:extLst>
                  </p:cNvPr>
                  <p:cNvSpPr/>
                  <p:nvPr/>
                </p:nvSpPr>
                <p:spPr>
                  <a:xfrm>
                    <a:off x="768035" y="2110929"/>
                    <a:ext cx="1406693" cy="1904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范文</a:t>
                    </a:r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2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40" name="矩形: 圆角 339">
                    <a:extLst>
                      <a:ext uri="{FF2B5EF4-FFF2-40B4-BE49-F238E27FC236}">
                        <a16:creationId xmlns:a16="http://schemas.microsoft.com/office/drawing/2014/main" id="{E3D82B02-622A-4F05-A09F-D6E2C81EBC85}"/>
                      </a:ext>
                    </a:extLst>
                  </p:cNvPr>
                  <p:cNvSpPr/>
                  <p:nvPr/>
                </p:nvSpPr>
                <p:spPr>
                  <a:xfrm>
                    <a:off x="768035" y="1825205"/>
                    <a:ext cx="1406693" cy="190483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00" dirty="0">
                        <a:solidFill>
                          <a:schemeClr val="bg1"/>
                        </a:solidFill>
                      </a:rPr>
                      <a:t>范文</a:t>
                    </a:r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1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8" name="箭头: 上下 7">
                <a:extLst>
                  <a:ext uri="{FF2B5EF4-FFF2-40B4-BE49-F238E27FC236}">
                    <a16:creationId xmlns:a16="http://schemas.microsoft.com/office/drawing/2014/main" id="{DEDBD59D-A6A1-4346-907B-0A5DEEB09228}"/>
                  </a:ext>
                </a:extLst>
              </p:cNvPr>
              <p:cNvSpPr/>
              <p:nvPr/>
            </p:nvSpPr>
            <p:spPr>
              <a:xfrm>
                <a:off x="3203558" y="3725455"/>
                <a:ext cx="94268" cy="525316"/>
              </a:xfrm>
              <a:prstGeom prst="upDownArrow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27E7EFFF-24FD-4018-93FE-7391FA8F9176}"/>
                  </a:ext>
                </a:extLst>
              </p:cNvPr>
              <p:cNvGrpSpPr/>
              <p:nvPr/>
            </p:nvGrpSpPr>
            <p:grpSpPr>
              <a:xfrm>
                <a:off x="3937439" y="1512430"/>
                <a:ext cx="971328" cy="2475683"/>
                <a:chOff x="994670" y="2216864"/>
                <a:chExt cx="1620831" cy="2475683"/>
              </a:xfrm>
            </p:grpSpPr>
            <p:grpSp>
              <p:nvGrpSpPr>
                <p:cNvPr id="342" name="组合 341">
                  <a:extLst>
                    <a:ext uri="{FF2B5EF4-FFF2-40B4-BE49-F238E27FC236}">
                      <a16:creationId xmlns:a16="http://schemas.microsoft.com/office/drawing/2014/main" id="{040E4C9D-9CC1-4EC6-AE87-4035D3DB17C7}"/>
                    </a:ext>
                  </a:extLst>
                </p:cNvPr>
                <p:cNvGrpSpPr/>
                <p:nvPr/>
              </p:nvGrpSpPr>
              <p:grpSpPr>
                <a:xfrm>
                  <a:off x="994670" y="4266577"/>
                  <a:ext cx="1612936" cy="425970"/>
                  <a:chOff x="1741170" y="1623217"/>
                  <a:chExt cx="1973580" cy="52560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0" name="矩形: 圆角 349">
                        <a:extLst>
                          <a:ext uri="{FF2B5EF4-FFF2-40B4-BE49-F238E27FC236}">
                            <a16:creationId xmlns:a16="http://schemas.microsoft.com/office/drawing/2014/main" id="{D2C3345E-E1CA-4C70-A82D-07DEEA0B92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40492" y="1886937"/>
                        <a:ext cx="1787612" cy="164787"/>
                      </a:xfrm>
                      <a:prstGeom prst="roundRect">
                        <a:avLst>
                          <a:gd name="adj" fmla="val 5491"/>
                        </a:avLst>
                      </a:prstGeom>
                      <a:solidFill>
                        <a:srgbClr val="92D050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8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50" name="矩形: 圆角 349">
                        <a:extLst>
                          <a:ext uri="{FF2B5EF4-FFF2-40B4-BE49-F238E27FC236}">
                            <a16:creationId xmlns:a16="http://schemas.microsoft.com/office/drawing/2014/main" id="{D2C3345E-E1CA-4C70-A82D-07DEEA0B92A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40492" y="1886937"/>
                        <a:ext cx="1787612" cy="164787"/>
                      </a:xfrm>
                      <a:prstGeom prst="roundRect">
                        <a:avLst>
                          <a:gd name="adj" fmla="val 5491"/>
                        </a:avLst>
                      </a:prstGeom>
                      <a:blipFill>
                        <a:blip r:embed="rId6"/>
                        <a:stretch>
                          <a:fillRect b="-13636"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51" name="矩形 350">
                    <a:extLst>
                      <a:ext uri="{FF2B5EF4-FFF2-40B4-BE49-F238E27FC236}">
                        <a16:creationId xmlns:a16="http://schemas.microsoft.com/office/drawing/2014/main" id="{52F1321D-5BFA-4635-A5EB-94C56F958C67}"/>
                      </a:ext>
                    </a:extLst>
                  </p:cNvPr>
                  <p:cNvSpPr/>
                  <p:nvPr/>
                </p:nvSpPr>
                <p:spPr>
                  <a:xfrm>
                    <a:off x="1741170" y="1623217"/>
                    <a:ext cx="1970922" cy="2853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待测作文正文</a:t>
                    </a:r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HT</a:t>
                    </a:r>
                    <a:endParaRPr lang="zh-CN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2" name="矩形: 圆角 351">
                    <a:extLst>
                      <a:ext uri="{FF2B5EF4-FFF2-40B4-BE49-F238E27FC236}">
                        <a16:creationId xmlns:a16="http://schemas.microsoft.com/office/drawing/2014/main" id="{23B25ADA-4129-49D1-9445-B7559C7D9A1A}"/>
                      </a:ext>
                    </a:extLst>
                  </p:cNvPr>
                  <p:cNvSpPr/>
                  <p:nvPr/>
                </p:nvSpPr>
                <p:spPr>
                  <a:xfrm>
                    <a:off x="1743828" y="1623217"/>
                    <a:ext cx="1970922" cy="525600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43" name="组合 342">
                  <a:extLst>
                    <a:ext uri="{FF2B5EF4-FFF2-40B4-BE49-F238E27FC236}">
                      <a16:creationId xmlns:a16="http://schemas.microsoft.com/office/drawing/2014/main" id="{282930B2-BACF-480D-83D8-F48FDE313786}"/>
                    </a:ext>
                  </a:extLst>
                </p:cNvPr>
                <p:cNvGrpSpPr/>
                <p:nvPr/>
              </p:nvGrpSpPr>
              <p:grpSpPr>
                <a:xfrm>
                  <a:off x="1002565" y="2216864"/>
                  <a:ext cx="1612936" cy="1741112"/>
                  <a:chOff x="672808" y="1416867"/>
                  <a:chExt cx="1612936" cy="1741112"/>
                </a:xfrm>
              </p:grpSpPr>
              <p:sp>
                <p:nvSpPr>
                  <p:cNvPr id="344" name="矩形 343">
                    <a:extLst>
                      <a:ext uri="{FF2B5EF4-FFF2-40B4-BE49-F238E27FC236}">
                        <a16:creationId xmlns:a16="http://schemas.microsoft.com/office/drawing/2014/main" id="{BB7071AD-6413-4A43-A7D0-BBC8E8875AE4}"/>
                      </a:ext>
                    </a:extLst>
                  </p:cNvPr>
                  <p:cNvSpPr/>
                  <p:nvPr/>
                </p:nvSpPr>
                <p:spPr>
                  <a:xfrm>
                    <a:off x="672808" y="1416867"/>
                    <a:ext cx="1612936" cy="174111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5" name="矩形: 圆角 344">
                        <a:extLst>
                          <a:ext uri="{FF2B5EF4-FFF2-40B4-BE49-F238E27FC236}">
                            <a16:creationId xmlns:a16="http://schemas.microsoft.com/office/drawing/2014/main" id="{F16A275E-9456-422F-88DC-0CACFE4234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8035" y="2682378"/>
                        <a:ext cx="1406693" cy="190483"/>
                      </a:xfrm>
                      <a:prstGeom prst="round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7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5" name="矩形: 圆角 344">
                        <a:extLst>
                          <a:ext uri="{FF2B5EF4-FFF2-40B4-BE49-F238E27FC236}">
                            <a16:creationId xmlns:a16="http://schemas.microsoft.com/office/drawing/2014/main" id="{F16A275E-9456-422F-88DC-0CACFE4234B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8035" y="2682378"/>
                        <a:ext cx="1406693" cy="190483"/>
                      </a:xfrm>
                      <a:prstGeom prst="round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46" name="矩形 345">
                    <a:extLst>
                      <a:ext uri="{FF2B5EF4-FFF2-40B4-BE49-F238E27FC236}">
                        <a16:creationId xmlns:a16="http://schemas.microsoft.com/office/drawing/2014/main" id="{6CB23E53-2F3F-4274-9050-ACED63EEEAC8}"/>
                      </a:ext>
                    </a:extLst>
                  </p:cNvPr>
                  <p:cNvSpPr/>
                  <p:nvPr/>
                </p:nvSpPr>
                <p:spPr>
                  <a:xfrm>
                    <a:off x="672808" y="1437781"/>
                    <a:ext cx="1598356" cy="1920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zh-CN" altLang="en-US" sz="800" b="1" dirty="0">
                        <a:solidFill>
                          <a:schemeClr val="tx1"/>
                        </a:solidFill>
                      </a:rPr>
                      <a:t>范文库</a:t>
                    </a:r>
                    <a:r>
                      <a:rPr lang="en-US" altLang="zh-CN" sz="800" b="1" dirty="0">
                        <a:solidFill>
                          <a:schemeClr val="tx1"/>
                        </a:solidFill>
                      </a:rPr>
                      <a:t>HT</a:t>
                    </a:r>
                    <a:endParaRPr lang="zh-CN" altLang="en-US" sz="8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7" name="矩形: 圆角 346">
                    <a:extLst>
                      <a:ext uri="{FF2B5EF4-FFF2-40B4-BE49-F238E27FC236}">
                        <a16:creationId xmlns:a16="http://schemas.microsoft.com/office/drawing/2014/main" id="{7C502180-C2AF-45EB-8676-25ECCF640F9C}"/>
                      </a:ext>
                    </a:extLst>
                  </p:cNvPr>
                  <p:cNvSpPr/>
                  <p:nvPr/>
                </p:nvSpPr>
                <p:spPr>
                  <a:xfrm>
                    <a:off x="768035" y="2396654"/>
                    <a:ext cx="1406693" cy="190483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bg1"/>
                        </a:solidFill>
                      </a:rPr>
                      <a:t>… …</a:t>
                    </a:r>
                    <a:endParaRPr lang="zh-CN" altLang="en-US" sz="700" dirty="0">
                      <a:solidFill>
                        <a:schemeClr val="bg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8" name="矩形: 圆角 347">
                        <a:extLst>
                          <a:ext uri="{FF2B5EF4-FFF2-40B4-BE49-F238E27FC236}">
                            <a16:creationId xmlns:a16="http://schemas.microsoft.com/office/drawing/2014/main" id="{972EE32F-8596-4C32-9E06-2177E9042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8035" y="2110929"/>
                        <a:ext cx="1406693" cy="190483"/>
                      </a:xfrm>
                      <a:prstGeom prst="round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7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8" name="矩形: 圆角 347">
                        <a:extLst>
                          <a:ext uri="{FF2B5EF4-FFF2-40B4-BE49-F238E27FC236}">
                            <a16:creationId xmlns:a16="http://schemas.microsoft.com/office/drawing/2014/main" id="{972EE32F-8596-4C32-9E06-2177E9042B4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8035" y="2110929"/>
                        <a:ext cx="1406693" cy="190483"/>
                      </a:xfrm>
                      <a:prstGeom prst="round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9" name="矩形: 圆角 348">
                        <a:extLst>
                          <a:ext uri="{FF2B5EF4-FFF2-40B4-BE49-F238E27FC236}">
                            <a16:creationId xmlns:a16="http://schemas.microsoft.com/office/drawing/2014/main" id="{8BD0BE0C-5187-4B62-84A4-EBE3EB08B2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8035" y="1825205"/>
                        <a:ext cx="1406693" cy="190483"/>
                      </a:xfrm>
                      <a:prstGeom prst="round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CN" sz="7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zh-CN" altLang="en-US" sz="7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9" name="矩形: 圆角 348">
                        <a:extLst>
                          <a:ext uri="{FF2B5EF4-FFF2-40B4-BE49-F238E27FC236}">
                            <a16:creationId xmlns:a16="http://schemas.microsoft.com/office/drawing/2014/main" id="{8BD0BE0C-5187-4B62-84A4-EBE3EB08B2F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8035" y="1825205"/>
                        <a:ext cx="1406693" cy="190483"/>
                      </a:xfrm>
                      <a:prstGeom prst="round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noFill/>
                        <a:prstDash val="dash"/>
                      </a:ln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12" name="连接符: 曲线 11">
                <a:extLst>
                  <a:ext uri="{FF2B5EF4-FFF2-40B4-BE49-F238E27FC236}">
                    <a16:creationId xmlns:a16="http://schemas.microsoft.com/office/drawing/2014/main" id="{9188EFDA-B221-4B62-B231-85617B84B473}"/>
                  </a:ext>
                </a:extLst>
              </p:cNvPr>
              <p:cNvCxnSpPr>
                <a:stCxn id="350" idx="3"/>
                <a:endCxn id="348" idx="3"/>
              </p:cNvCxnSpPr>
              <p:nvPr/>
            </p:nvCxnSpPr>
            <p:spPr>
              <a:xfrm flipH="1" flipV="1">
                <a:off x="4842237" y="2301734"/>
                <a:ext cx="19363" cy="1540916"/>
              </a:xfrm>
              <a:prstGeom prst="curvedConnector3">
                <a:avLst>
                  <a:gd name="adj1" fmla="val -1618763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连接符: 曲线 14">
                <a:extLst>
                  <a:ext uri="{FF2B5EF4-FFF2-40B4-BE49-F238E27FC236}">
                    <a16:creationId xmlns:a16="http://schemas.microsoft.com/office/drawing/2014/main" id="{FF706BF9-454B-4E3F-8ED1-212FE649B859}"/>
                  </a:ext>
                </a:extLst>
              </p:cNvPr>
              <p:cNvCxnSpPr>
                <a:stCxn id="350" idx="3"/>
                <a:endCxn id="349" idx="3"/>
              </p:cNvCxnSpPr>
              <p:nvPr/>
            </p:nvCxnSpPr>
            <p:spPr>
              <a:xfrm flipH="1" flipV="1">
                <a:off x="4842237" y="2016010"/>
                <a:ext cx="19363" cy="1826640"/>
              </a:xfrm>
              <a:prstGeom prst="curvedConnector3">
                <a:avLst>
                  <a:gd name="adj1" fmla="val -1910871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连接符: 曲线 16">
                <a:extLst>
                  <a:ext uri="{FF2B5EF4-FFF2-40B4-BE49-F238E27FC236}">
                    <a16:creationId xmlns:a16="http://schemas.microsoft.com/office/drawing/2014/main" id="{08620776-DAF0-4888-8BEC-E690A1DD5C6A}"/>
                  </a:ext>
                </a:extLst>
              </p:cNvPr>
              <p:cNvCxnSpPr>
                <a:stCxn id="350" idx="3"/>
                <a:endCxn id="347" idx="3"/>
              </p:cNvCxnSpPr>
              <p:nvPr/>
            </p:nvCxnSpPr>
            <p:spPr>
              <a:xfrm flipH="1" flipV="1">
                <a:off x="4842237" y="2587459"/>
                <a:ext cx="19363" cy="1255191"/>
              </a:xfrm>
              <a:prstGeom prst="curvedConnector3">
                <a:avLst>
                  <a:gd name="adj1" fmla="val -1131917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连接符: 曲线 18">
                <a:extLst>
                  <a:ext uri="{FF2B5EF4-FFF2-40B4-BE49-F238E27FC236}">
                    <a16:creationId xmlns:a16="http://schemas.microsoft.com/office/drawing/2014/main" id="{9C1BF177-3A15-4F9A-91A9-C5E0B51EFB69}"/>
                  </a:ext>
                </a:extLst>
              </p:cNvPr>
              <p:cNvCxnSpPr>
                <a:stCxn id="350" idx="3"/>
                <a:endCxn id="345" idx="3"/>
              </p:cNvCxnSpPr>
              <p:nvPr/>
            </p:nvCxnSpPr>
            <p:spPr>
              <a:xfrm flipH="1" flipV="1">
                <a:off x="4842237" y="2873183"/>
                <a:ext cx="19363" cy="969467"/>
              </a:xfrm>
              <a:prstGeom prst="curvedConnector3">
                <a:avLst>
                  <a:gd name="adj1" fmla="val -693756"/>
                </a:avLst>
              </a:prstGeom>
              <a:ln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3" name="文本框 352">
                <a:extLst>
                  <a:ext uri="{FF2B5EF4-FFF2-40B4-BE49-F238E27FC236}">
                    <a16:creationId xmlns:a16="http://schemas.microsoft.com/office/drawing/2014/main" id="{87FB2529-64A5-4193-A534-7EB2EB04FE15}"/>
                  </a:ext>
                </a:extLst>
              </p:cNvPr>
              <p:cNvSpPr txBox="1"/>
              <p:nvPr/>
            </p:nvSpPr>
            <p:spPr>
              <a:xfrm>
                <a:off x="5065709" y="3518324"/>
                <a:ext cx="7370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Cosine similarity</a:t>
                </a:r>
                <a:endParaRPr lang="zh-CN" altLang="en-US" sz="1000" dirty="0"/>
              </a:p>
            </p:txBody>
          </p:sp>
          <p:sp>
            <p:nvSpPr>
              <p:cNvPr id="354" name="箭头: 右 353">
                <a:extLst>
                  <a:ext uri="{FF2B5EF4-FFF2-40B4-BE49-F238E27FC236}">
                    <a16:creationId xmlns:a16="http://schemas.microsoft.com/office/drawing/2014/main" id="{573A4CC8-7B31-47B8-A75E-D68E55DE437B}"/>
                  </a:ext>
                </a:extLst>
              </p:cNvPr>
              <p:cNvSpPr/>
              <p:nvPr/>
            </p:nvSpPr>
            <p:spPr>
              <a:xfrm>
                <a:off x="5435113" y="3090218"/>
                <a:ext cx="966597" cy="169784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1980AA2-27E5-41DF-880E-D3D542094E48}"/>
                  </a:ext>
                </a:extLst>
              </p:cNvPr>
              <p:cNvSpPr txBox="1"/>
              <p:nvPr/>
            </p:nvSpPr>
            <p:spPr>
              <a:xfrm>
                <a:off x="5391848" y="2724419"/>
                <a:ext cx="10272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/>
                  <a:t>选择</a:t>
                </a:r>
                <a:r>
                  <a:rPr lang="en-US" altLang="zh-CN" sz="1000" dirty="0"/>
                  <a:t>topk</a:t>
                </a:r>
                <a:r>
                  <a:rPr lang="zh-CN" altLang="en-US" sz="1000" dirty="0"/>
                  <a:t>范文标题</a:t>
                </a:r>
              </a:p>
            </p:txBody>
          </p:sp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603BE1B2-643B-474B-BFB0-A9E29B37B687}"/>
                  </a:ext>
                </a:extLst>
              </p:cNvPr>
              <p:cNvSpPr txBox="1"/>
              <p:nvPr/>
            </p:nvSpPr>
            <p:spPr>
              <a:xfrm>
                <a:off x="968605" y="1099548"/>
                <a:ext cx="40548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b="1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Task 2: Get the topk reference title according to the  content representation</a:t>
                </a:r>
                <a:endParaRPr lang="zh-CN" altLang="en-US" sz="800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3297F8A8-5E3A-4803-9FA3-EAFDF17373D8}"/>
                  </a:ext>
                </a:extLst>
              </p:cNvPr>
              <p:cNvSpPr/>
              <p:nvPr/>
            </p:nvSpPr>
            <p:spPr>
              <a:xfrm>
                <a:off x="838199" y="1028700"/>
                <a:ext cx="4517863" cy="3076939"/>
              </a:xfrm>
              <a:prstGeom prst="roundRect">
                <a:avLst>
                  <a:gd name="adj" fmla="val 1961"/>
                </a:avLst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860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09DAF44-A81E-48BC-BC33-B60FD90F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数据集（三档）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D4AFEC-7361-40A1-AE97-A15C1343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DE22-5817-46C0-80E9-A3D6E9FBA666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2473F-AFCF-46D8-9CA5-6F787455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E6089EE-DD38-4032-8E55-7196B0F30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训练集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验证集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同步作文</a:t>
                </a:r>
                <a:endParaRPr lang="en-US" altLang="zh-CN" dirty="0"/>
              </a:p>
              <a:p>
                <a:r>
                  <a:rPr lang="zh-CN" altLang="en-US" dirty="0"/>
                  <a:t>测试集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Datase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：同步作文，</a:t>
                </a:r>
                <a:r>
                  <a:rPr lang="en-US" altLang="zh-CN" dirty="0"/>
                  <a:t>199</a:t>
                </a:r>
                <a:r>
                  <a:rPr lang="zh-CN" altLang="en-US" dirty="0"/>
                  <a:t>篇原始数据</a:t>
                </a:r>
                <a:r>
                  <a:rPr lang="en-US" altLang="zh-CN" dirty="0"/>
                  <a:t>+208</a:t>
                </a:r>
                <a:r>
                  <a:rPr lang="zh-CN" altLang="en-US" dirty="0"/>
                  <a:t>篇构造数据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Datase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：乐乐课堂，</a:t>
                </a:r>
                <a:r>
                  <a:rPr lang="en-US" altLang="zh-CN" dirty="0"/>
                  <a:t>2200</a:t>
                </a:r>
                <a:r>
                  <a:rPr lang="zh-CN" altLang="en-US" dirty="0"/>
                  <a:t>篇构造数据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E6089EE-DD38-4032-8E55-7196B0F30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1" t="-1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5AB7B1CD-DE36-4880-AC66-11EC93D00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407576"/>
              </p:ext>
            </p:extLst>
          </p:nvPr>
        </p:nvGraphicFramePr>
        <p:xfrm>
          <a:off x="2253446" y="2365662"/>
          <a:ext cx="7685108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24">
                  <a:extLst>
                    <a:ext uri="{9D8B030D-6E8A-4147-A177-3AD203B41FA5}">
                      <a16:colId xmlns:a16="http://schemas.microsoft.com/office/drawing/2014/main" val="668397034"/>
                    </a:ext>
                  </a:extLst>
                </a:gridCol>
                <a:gridCol w="1383024">
                  <a:extLst>
                    <a:ext uri="{9D8B030D-6E8A-4147-A177-3AD203B41FA5}">
                      <a16:colId xmlns:a16="http://schemas.microsoft.com/office/drawing/2014/main" val="2280488339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926641678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157438266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3070502366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315976126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07322214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不离题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部分离题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完全离题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数据来源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74969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/>
                        <a:t>训练集</a:t>
                      </a:r>
                      <a:endParaRPr lang="en-US" altLang="zh-CN" sz="1100" b="1" i="0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120000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180000</a:t>
                      </a:r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乐乐课堂</a:t>
                      </a:r>
                      <a:r>
                        <a:rPr lang="en-US" altLang="zh-CN" sz="1100" dirty="0"/>
                        <a:t>+</a:t>
                      </a:r>
                      <a:r>
                        <a:rPr lang="zh-CN" altLang="en-US" sz="1100" dirty="0"/>
                        <a:t>笔神作文构造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38359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 i="0" dirty="0"/>
                        <a:t>DataSet1</a:t>
                      </a: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/>
                        <a:t>验证集</a:t>
                      </a:r>
                      <a:endParaRPr lang="en-US" altLang="zh-CN" sz="1100" b="1" i="0" dirty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138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83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55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276</a:t>
                      </a:r>
                      <a:endParaRPr lang="zh-CN" altLang="en-US" sz="11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dirty="0">
                          <a:solidFill>
                            <a:schemeClr val="tx1"/>
                          </a:solidFill>
                        </a:rPr>
                        <a:t>同步作文（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199</a:t>
                      </a:r>
                      <a:r>
                        <a:rPr lang="zh-CN" altLang="en-US" sz="1100" b="0" dirty="0">
                          <a:solidFill>
                            <a:schemeClr val="tx1"/>
                          </a:solidFill>
                        </a:rPr>
                        <a:t>原始数据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+208</a:t>
                      </a:r>
                      <a:r>
                        <a:rPr lang="zh-CN" altLang="en-US" sz="1100" b="0" dirty="0">
                          <a:solidFill>
                            <a:schemeClr val="tx1"/>
                          </a:solidFill>
                        </a:rPr>
                        <a:t>篇构造数据，双标）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87725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/>
                        <a:t>测试集</a:t>
                      </a:r>
                      <a:endParaRPr lang="en-US" altLang="zh-CN" sz="1100" b="1" i="0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202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127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78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407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119137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 i="0" dirty="0">
                          <a:solidFill>
                            <a:schemeClr val="tx1"/>
                          </a:solidFill>
                        </a:rPr>
                        <a:t>DataSet2</a:t>
                      </a:r>
                      <a:endParaRPr lang="zh-CN" altLang="en-US" sz="1100" b="1" i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</a:rPr>
                        <a:t>验证集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乐乐课堂</a:t>
                      </a:r>
                      <a:r>
                        <a:rPr lang="en-US" altLang="zh-CN" sz="1100" dirty="0"/>
                        <a:t>+</a:t>
                      </a:r>
                      <a:r>
                        <a:rPr lang="zh-CN" altLang="en-US" sz="1100" dirty="0"/>
                        <a:t>笔神作文构造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60703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/>
                      <a:endParaRPr lang="zh-CN" altLang="en-US" sz="1400" b="1" i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</a:rPr>
                        <a:t>测试集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45129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格 4">
                <a:extLst>
                  <a:ext uri="{FF2B5EF4-FFF2-40B4-BE49-F238E27FC236}">
                    <a16:creationId xmlns:a16="http://schemas.microsoft.com/office/drawing/2014/main" id="{2F82AEE3-1D76-4774-B499-12B120CAAD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299733"/>
                  </p:ext>
                </p:extLst>
              </p:nvPr>
            </p:nvGraphicFramePr>
            <p:xfrm>
              <a:off x="2244000" y="4673741"/>
              <a:ext cx="7704000" cy="103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000">
                      <a:extLst>
                        <a:ext uri="{9D8B030D-6E8A-4147-A177-3AD203B41FA5}">
                          <a16:colId xmlns:a16="http://schemas.microsoft.com/office/drawing/2014/main" val="1605640731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168899981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926641678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5743826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7050236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5976126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989318563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1879455171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3071010903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i="0" dirty="0"/>
                            <a:t>双标结果</a:t>
                          </a:r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/>
                            <a:t>407</a:t>
                          </a:r>
                          <a:r>
                            <a:rPr lang="zh-CN" altLang="en-US" sz="1100" b="1" dirty="0"/>
                            <a:t>篇</a:t>
                          </a:r>
                          <a:r>
                            <a:rPr lang="en-US" altLang="zh-CN" sz="1100" b="1" dirty="0"/>
                            <a:t>(199+208)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100" b="1" i="0" smtClean="0">
                                    <a:latin typeface="Cambria Math" panose="02040503050406030204" pitchFamily="18" charset="0"/>
                                  </a:rPr>
                                  <m:t>𝐃𝐚𝐭𝐚𝐬𝐞</m:t>
                                </m:r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0" smtClean="0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en-US" altLang="zh-CN" sz="11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良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合计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一致率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跨二档率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749690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100" b="1" i="0" smtClean="0">
                                    <a:latin typeface="Cambria Math" panose="02040503050406030204" pitchFamily="18" charset="0"/>
                                  </a:rPr>
                                  <m:t>𝐃𝐚𝐭𝐚𝐬𝐞</m:t>
                                </m:r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0" smtClean="0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en-US" altLang="zh-CN" sz="11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100" b="1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1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184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154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69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/>
                            <a:t>407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1-</a:t>
                          </a:r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2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0.6855(279)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0.0172(7)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29505834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2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96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407</a:t>
                          </a:r>
                          <a:endParaRPr lang="zh-CN" altLang="en-US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人</a:t>
                          </a:r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1-</a:t>
                          </a:r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仲裁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0.8329(339)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0.0074(3)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109161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1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仲裁</a:t>
                          </a:r>
                          <a:endParaRPr lang="zh-CN" altLang="en-US" sz="11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78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407</a:t>
                          </a:r>
                          <a:endParaRPr lang="zh-CN" altLang="en-US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人</a:t>
                          </a:r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2-</a:t>
                          </a:r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仲裁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0.8182(333)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0.0049(2)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016070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4">
                <a:extLst>
                  <a:ext uri="{FF2B5EF4-FFF2-40B4-BE49-F238E27FC236}">
                    <a16:creationId xmlns:a16="http://schemas.microsoft.com/office/drawing/2014/main" id="{2F82AEE3-1D76-4774-B499-12B120CAAD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299733"/>
                  </p:ext>
                </p:extLst>
              </p:nvPr>
            </p:nvGraphicFramePr>
            <p:xfrm>
              <a:off x="2244000" y="4673741"/>
              <a:ext cx="7704000" cy="103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6000">
                      <a:extLst>
                        <a:ext uri="{9D8B030D-6E8A-4147-A177-3AD203B41FA5}">
                          <a16:colId xmlns:a16="http://schemas.microsoft.com/office/drawing/2014/main" val="1605640731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168899981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926641678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5743826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070502366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5976126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1989318563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1879455171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3071010903"/>
                        </a:ext>
                      </a:extLst>
                    </a:gridCol>
                  </a:tblGrid>
                  <a:tr h="25908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i="0" dirty="0"/>
                            <a:t>双标结果</a:t>
                          </a:r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/>
                            <a:t>407</a:t>
                          </a:r>
                          <a:r>
                            <a:rPr lang="zh-CN" altLang="en-US" sz="1100" b="1" dirty="0"/>
                            <a:t>篇</a:t>
                          </a:r>
                          <a:r>
                            <a:rPr lang="en-US" altLang="zh-CN" sz="1100" b="1" dirty="0"/>
                            <a:t>(199+208)</a:t>
                          </a:r>
                        </a:p>
                        <a:p>
                          <a:pPr algn="ctr"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100" b="1" i="0" smtClean="0">
                                    <a:latin typeface="Cambria Math" panose="02040503050406030204" pitchFamily="18" charset="0"/>
                                  </a:rPr>
                                  <m:t>𝐃𝐚𝐭𝐚𝐬𝐞</m:t>
                                </m:r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0" smtClean="0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en-US" altLang="zh-CN" sz="11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良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合计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一致率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跨二档率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749690"/>
                      </a:ext>
                    </a:extLst>
                  </a:tr>
                  <a:tr h="259080"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9" t="-34375" r="-724026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1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184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154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69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/>
                            <a:t>407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1-</a:t>
                          </a:r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2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0.6855(279)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0.0172(7)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29505834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人</a:t>
                          </a:r>
                          <a:r>
                            <a:rPr lang="en-US" altLang="zh-CN" sz="1100" b="1" dirty="0"/>
                            <a:t>2</a:t>
                          </a:r>
                          <a:endParaRPr lang="zh-CN" altLang="en-US" sz="11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96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407</a:t>
                          </a:r>
                          <a:endParaRPr lang="zh-CN" altLang="en-US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人</a:t>
                          </a:r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1-</a:t>
                          </a:r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仲裁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0.8329(339)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0.0074(3)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1091618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1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仲裁</a:t>
                          </a:r>
                          <a:endParaRPr lang="zh-CN" altLang="en-US" sz="11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78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407</a:t>
                          </a:r>
                          <a:endParaRPr lang="zh-CN" altLang="en-US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人</a:t>
                          </a:r>
                          <a:r>
                            <a:rPr lang="en-US" altLang="zh-CN" sz="1100" b="1" dirty="0">
                              <a:solidFill>
                                <a:schemeClr val="tx1"/>
                              </a:solidFill>
                            </a:rPr>
                            <a:t>2-</a:t>
                          </a:r>
                          <a:r>
                            <a:rPr lang="zh-CN" altLang="en-US" sz="1100" b="1" dirty="0">
                              <a:solidFill>
                                <a:schemeClr val="tx1"/>
                              </a:solidFill>
                            </a:rPr>
                            <a:t>仲裁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0.8182(333)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0.0049(2)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016070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C6469F5F-5437-465F-8EA9-81E89FFD0FFA}"/>
              </a:ext>
            </a:extLst>
          </p:cNvPr>
          <p:cNvSpPr txBox="1"/>
          <p:nvPr/>
        </p:nvSpPr>
        <p:spPr>
          <a:xfrm>
            <a:off x="4766950" y="4247550"/>
            <a:ext cx="2658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表</a:t>
            </a:r>
            <a:r>
              <a:rPr lang="en-US" altLang="zh-CN" sz="1400" dirty="0"/>
              <a:t>1. </a:t>
            </a:r>
            <a:r>
              <a:rPr lang="zh-CN" altLang="en-US" sz="1400" dirty="0"/>
              <a:t>训练集</a:t>
            </a:r>
            <a:r>
              <a:rPr lang="en-US" altLang="zh-CN" sz="1400" dirty="0"/>
              <a:t>/</a:t>
            </a:r>
            <a:r>
              <a:rPr lang="zh-CN" altLang="en-US" sz="1400" dirty="0"/>
              <a:t>验证集</a:t>
            </a:r>
            <a:r>
              <a:rPr lang="en-US" altLang="zh-CN" sz="1400" dirty="0"/>
              <a:t>/</a:t>
            </a:r>
            <a:r>
              <a:rPr lang="zh-CN" altLang="en-US" sz="1400" dirty="0"/>
              <a:t>测试集分布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416DF49-0DF5-441F-875B-2CC0D751BFF8}"/>
                  </a:ext>
                </a:extLst>
              </p:cNvPr>
              <p:cNvSpPr txBox="1"/>
              <p:nvPr/>
            </p:nvSpPr>
            <p:spPr>
              <a:xfrm>
                <a:off x="5103677" y="5781975"/>
                <a:ext cx="19846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表</a:t>
                </a:r>
                <a:r>
                  <a:rPr lang="en-US" altLang="zh-CN" sz="1400" dirty="0"/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0" smtClean="0">
                        <a:latin typeface="Cambria Math" panose="02040503050406030204" pitchFamily="18" charset="0"/>
                      </a:rPr>
                      <m:t>Datase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400" dirty="0"/>
                  <a:t>双标结果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416DF49-0DF5-441F-875B-2CC0D751B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677" y="5781975"/>
                <a:ext cx="1984646" cy="307777"/>
              </a:xfrm>
              <a:prstGeom prst="rect">
                <a:avLst/>
              </a:prstGeom>
              <a:blipFill>
                <a:blip r:embed="rId4"/>
                <a:stretch>
                  <a:fillRect l="-920" t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86676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71DDD-BBE7-4FCB-A8AA-51013F3B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三档数据集构建方案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57D25-1400-47F1-A36B-4A57B528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数据来源：</a:t>
            </a:r>
            <a:endParaRPr lang="en-US" altLang="zh-CN" dirty="0"/>
          </a:p>
          <a:p>
            <a:pPr lvl="1"/>
            <a:r>
              <a:rPr lang="zh-CN" altLang="en-US" dirty="0"/>
              <a:t>乐乐课堂 </a:t>
            </a:r>
            <a:r>
              <a:rPr lang="en-US" altLang="zh-CN" dirty="0"/>
              <a:t>+ </a:t>
            </a:r>
            <a:r>
              <a:rPr lang="zh-CN" altLang="en-US" dirty="0"/>
              <a:t>笔神作文</a:t>
            </a:r>
            <a:endParaRPr lang="en-US" altLang="zh-CN" dirty="0"/>
          </a:p>
          <a:p>
            <a:r>
              <a:rPr lang="zh-CN" altLang="en-US" dirty="0"/>
              <a:t>三档：优</a:t>
            </a:r>
            <a:r>
              <a:rPr lang="en-US" altLang="zh-CN" dirty="0"/>
              <a:t>/</a:t>
            </a:r>
            <a:r>
              <a:rPr lang="zh-CN" altLang="en-US" dirty="0"/>
              <a:t>良</a:t>
            </a:r>
            <a:r>
              <a:rPr lang="en-US" altLang="zh-CN" dirty="0"/>
              <a:t>/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构建方案：</a:t>
            </a:r>
            <a:endParaRPr lang="en-US" altLang="zh-CN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D53083-49B6-4DA8-954B-9278348AA148}"/>
              </a:ext>
            </a:extLst>
          </p:cNvPr>
          <p:cNvGrpSpPr/>
          <p:nvPr/>
        </p:nvGrpSpPr>
        <p:grpSpPr>
          <a:xfrm>
            <a:off x="2454162" y="2194458"/>
            <a:ext cx="7283676" cy="1588623"/>
            <a:chOff x="1518856" y="2435841"/>
            <a:chExt cx="5807665" cy="158862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4F741D5-9F86-4787-BE85-ED925C31B444}"/>
                </a:ext>
              </a:extLst>
            </p:cNvPr>
            <p:cNvSpPr/>
            <p:nvPr/>
          </p:nvSpPr>
          <p:spPr>
            <a:xfrm>
              <a:off x="1518856" y="3143538"/>
              <a:ext cx="923193" cy="31652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乐乐课堂</a:t>
              </a:r>
              <a:r>
                <a:rPr lang="en-US" altLang="zh-CN" sz="800" dirty="0"/>
                <a:t>+</a:t>
              </a:r>
              <a:r>
                <a:rPr lang="zh-CN" altLang="en-US" sz="800" dirty="0"/>
                <a:t>笔神作文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B2B04FE-1438-4C4F-89AE-45FD0ADD4F53}"/>
                </a:ext>
              </a:extLst>
            </p:cNvPr>
            <p:cNvSpPr/>
            <p:nvPr/>
          </p:nvSpPr>
          <p:spPr>
            <a:xfrm>
              <a:off x="3060380" y="2435841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优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9324470-C047-4B58-9E0D-A2ACED35D2C6}"/>
                </a:ext>
              </a:extLst>
            </p:cNvPr>
            <p:cNvSpPr/>
            <p:nvPr/>
          </p:nvSpPr>
          <p:spPr>
            <a:xfrm>
              <a:off x="3060381" y="3143539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计算正文相似度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E25146-E615-4D91-BA14-857FF4B61F22}"/>
                </a:ext>
              </a:extLst>
            </p:cNvPr>
            <p:cNvSpPr/>
            <p:nvPr/>
          </p:nvSpPr>
          <p:spPr>
            <a:xfrm>
              <a:off x="4168212" y="3143539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/>
                <a:t>选取相似度较小作文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C65CD6E-8846-4E16-9BC9-7F6C9FC7CEC5}"/>
                </a:ext>
              </a:extLst>
            </p:cNvPr>
            <p:cNvSpPr/>
            <p:nvPr/>
          </p:nvSpPr>
          <p:spPr>
            <a:xfrm>
              <a:off x="6403328" y="3143537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良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3F1E563-7E5F-4ADA-891B-8EAD1C28C42A}"/>
                </a:ext>
              </a:extLst>
            </p:cNvPr>
            <p:cNvSpPr/>
            <p:nvPr/>
          </p:nvSpPr>
          <p:spPr>
            <a:xfrm>
              <a:off x="6388404" y="3707941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中</a:t>
              </a:r>
            </a:p>
          </p:txBody>
        </p: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705C8C6D-F0E1-43C8-9A82-DAFA084D06AB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 flipV="1">
              <a:off x="2442049" y="2594103"/>
              <a:ext cx="618331" cy="70769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连接符: 肘形 19">
              <a:extLst>
                <a:ext uri="{FF2B5EF4-FFF2-40B4-BE49-F238E27FC236}">
                  <a16:creationId xmlns:a16="http://schemas.microsoft.com/office/drawing/2014/main" id="{A7477C60-B116-43BE-8336-22FD08646E59}"/>
                </a:ext>
              </a:extLst>
            </p:cNvPr>
            <p:cNvCxnSpPr>
              <a:stCxn id="6" idx="3"/>
              <a:endCxn id="9" idx="1"/>
            </p:cNvCxnSpPr>
            <p:nvPr/>
          </p:nvCxnSpPr>
          <p:spPr>
            <a:xfrm>
              <a:off x="2442049" y="3301800"/>
              <a:ext cx="618332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B994DCB-B165-426C-89CD-EC502777E17D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>
              <a:off x="3983574" y="3301801"/>
              <a:ext cx="1846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37712449-12E6-43BD-941B-4FF8DB12D53A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5091405" y="3301801"/>
              <a:ext cx="1846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7B84BBB4-0D25-47CD-8FBE-E70F51DA4E1D}"/>
                </a:ext>
              </a:extLst>
            </p:cNvPr>
            <p:cNvSpPr/>
            <p:nvPr/>
          </p:nvSpPr>
          <p:spPr>
            <a:xfrm>
              <a:off x="5276043" y="3143538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随机替换部分片段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AF083F4C-4748-4F76-BE1F-70E2E601763A}"/>
                </a:ext>
              </a:extLst>
            </p:cNvPr>
            <p:cNvCxnSpPr>
              <a:cxnSpLocks/>
            </p:cNvCxnSpPr>
            <p:nvPr/>
          </p:nvCxnSpPr>
          <p:spPr>
            <a:xfrm>
              <a:off x="6203765" y="3301798"/>
              <a:ext cx="1846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E861ED7-EF63-4DE5-996F-B587CEABF0F2}"/>
                </a:ext>
              </a:extLst>
            </p:cNvPr>
            <p:cNvSpPr/>
            <p:nvPr/>
          </p:nvSpPr>
          <p:spPr>
            <a:xfrm>
              <a:off x="5276043" y="3707941"/>
              <a:ext cx="923193" cy="316523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/>
                <a:t>替换正文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7A75603-2AF7-4705-B3C6-27DE52B5F5FD}"/>
                </a:ext>
              </a:extLst>
            </p:cNvPr>
            <p:cNvCxnSpPr>
              <a:cxnSpLocks/>
            </p:cNvCxnSpPr>
            <p:nvPr/>
          </p:nvCxnSpPr>
          <p:spPr>
            <a:xfrm>
              <a:off x="6209262" y="3866202"/>
              <a:ext cx="1846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B4461C86-972C-4B1B-88C0-675E7C700590}"/>
                </a:ext>
              </a:extLst>
            </p:cNvPr>
            <p:cNvCxnSpPr>
              <a:stCxn id="10" idx="3"/>
              <a:endCxn id="27" idx="1"/>
            </p:cNvCxnSpPr>
            <p:nvPr/>
          </p:nvCxnSpPr>
          <p:spPr>
            <a:xfrm>
              <a:off x="5091405" y="3301801"/>
              <a:ext cx="184638" cy="564402"/>
            </a:xfrm>
            <a:prstGeom prst="bentConnector3">
              <a:avLst>
                <a:gd name="adj1" fmla="val 2447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3" name="表格 4">
            <a:extLst>
              <a:ext uri="{FF2B5EF4-FFF2-40B4-BE49-F238E27FC236}">
                <a16:creationId xmlns:a16="http://schemas.microsoft.com/office/drawing/2014/main" id="{62143567-0C74-4AB4-89A1-97B6AA1CF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847230"/>
              </p:ext>
            </p:extLst>
          </p:nvPr>
        </p:nvGraphicFramePr>
        <p:xfrm>
          <a:off x="2253446" y="4347020"/>
          <a:ext cx="7685108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24">
                  <a:extLst>
                    <a:ext uri="{9D8B030D-6E8A-4147-A177-3AD203B41FA5}">
                      <a16:colId xmlns:a16="http://schemas.microsoft.com/office/drawing/2014/main" val="668397034"/>
                    </a:ext>
                  </a:extLst>
                </a:gridCol>
                <a:gridCol w="1383024">
                  <a:extLst>
                    <a:ext uri="{9D8B030D-6E8A-4147-A177-3AD203B41FA5}">
                      <a16:colId xmlns:a16="http://schemas.microsoft.com/office/drawing/2014/main" val="2280488339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926641678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157438266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3070502366"/>
                    </a:ext>
                  </a:extLst>
                </a:gridCol>
                <a:gridCol w="806765">
                  <a:extLst>
                    <a:ext uri="{9D8B030D-6E8A-4147-A177-3AD203B41FA5}">
                      <a16:colId xmlns:a16="http://schemas.microsoft.com/office/drawing/2014/main" val="315976126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07322214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不离题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部分离题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完全离题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数据来源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74969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/>
                        <a:t>训练集</a:t>
                      </a:r>
                      <a:endParaRPr lang="en-US" altLang="zh-CN" sz="1100" b="1" i="0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120000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180000</a:t>
                      </a:r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乐乐课堂</a:t>
                      </a:r>
                      <a:r>
                        <a:rPr lang="en-US" altLang="zh-CN" sz="1100" dirty="0"/>
                        <a:t>+</a:t>
                      </a:r>
                      <a:r>
                        <a:rPr lang="zh-CN" altLang="en-US" sz="1100" dirty="0"/>
                        <a:t>笔神作文构造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38359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 i="0" dirty="0"/>
                        <a:t>DataSet1</a:t>
                      </a:r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/>
                        <a:t>验证集</a:t>
                      </a:r>
                      <a:endParaRPr lang="en-US" altLang="zh-CN" sz="1100" b="1" i="0" dirty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138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83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55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276</a:t>
                      </a:r>
                      <a:endParaRPr lang="zh-CN" altLang="en-US" sz="11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dirty="0">
                          <a:solidFill>
                            <a:schemeClr val="tx1"/>
                          </a:solidFill>
                        </a:rPr>
                        <a:t>同步作文（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199</a:t>
                      </a:r>
                      <a:r>
                        <a:rPr lang="zh-CN" altLang="en-US" sz="1100" b="0" dirty="0">
                          <a:solidFill>
                            <a:schemeClr val="tx1"/>
                          </a:solidFill>
                        </a:rPr>
                        <a:t>原始数据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+208</a:t>
                      </a:r>
                      <a:r>
                        <a:rPr lang="zh-CN" altLang="en-US" sz="1100" b="0" dirty="0">
                          <a:solidFill>
                            <a:schemeClr val="tx1"/>
                          </a:solidFill>
                        </a:rPr>
                        <a:t>篇构造数据，双标）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87725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/>
                      <a:endParaRPr lang="en-US" altLang="zh-CN" sz="1100" b="1" i="0" dirty="0"/>
                    </a:p>
                  </a:txBody>
                  <a:tcPr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/>
                        <a:t>测试集</a:t>
                      </a:r>
                      <a:endParaRPr lang="en-US" altLang="zh-CN" sz="1100" b="1" i="0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202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127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78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407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119137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100" b="1" i="0" dirty="0">
                          <a:solidFill>
                            <a:schemeClr val="tx1"/>
                          </a:solidFill>
                        </a:rPr>
                        <a:t>DataSet2</a:t>
                      </a:r>
                      <a:endParaRPr lang="zh-CN" altLang="en-US" sz="1100" b="1" i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</a:rPr>
                        <a:t>验证集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乐乐课堂</a:t>
                      </a:r>
                      <a:r>
                        <a:rPr lang="en-US" altLang="zh-CN" sz="1100" dirty="0"/>
                        <a:t>+</a:t>
                      </a:r>
                      <a:r>
                        <a:rPr lang="zh-CN" altLang="en-US" sz="1100" dirty="0"/>
                        <a:t>笔神作文构造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60703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/>
                      <a:endParaRPr lang="zh-CN" altLang="en-US" sz="1400" b="1" i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dirty="0">
                          <a:solidFill>
                            <a:schemeClr val="tx1"/>
                          </a:solidFill>
                        </a:rPr>
                        <a:t>测试集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451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72388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BD85A-2AC3-4538-B31A-C177A20E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指标更新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80FB0C-B9C6-4304-A381-4D6CF4604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DataSet1</a:t>
            </a:r>
            <a:r>
              <a:rPr lang="zh-CN" altLang="en-US" dirty="0"/>
              <a:t>指标更新</a:t>
            </a:r>
          </a:p>
        </p:txBody>
      </p:sp>
      <p:graphicFrame>
        <p:nvGraphicFramePr>
          <p:cNvPr id="5" name="表格 11">
            <a:extLst>
              <a:ext uri="{FF2B5EF4-FFF2-40B4-BE49-F238E27FC236}">
                <a16:creationId xmlns:a16="http://schemas.microsoft.com/office/drawing/2014/main" id="{54BB272F-3E1A-402F-9D28-94F31A058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39646"/>
              </p:ext>
            </p:extLst>
          </p:nvPr>
        </p:nvGraphicFramePr>
        <p:xfrm>
          <a:off x="220022" y="1600752"/>
          <a:ext cx="8700564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784429581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693444544"/>
                    </a:ext>
                  </a:extLst>
                </a:gridCol>
                <a:gridCol w="1091215">
                  <a:extLst>
                    <a:ext uri="{9D8B030D-6E8A-4147-A177-3AD203B41FA5}">
                      <a16:colId xmlns:a16="http://schemas.microsoft.com/office/drawing/2014/main" val="3262329866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2514827036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1806854799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4150396025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1746095540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3513093503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2457331703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22757150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DataSet1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DataSet1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阈值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模型预测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10906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-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Marco-F1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相关系数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165806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人</a:t>
                      </a:r>
                      <a:r>
                        <a:rPr lang="en-US" altLang="zh-CN" sz="900" b="1" dirty="0"/>
                        <a:t>1-</a:t>
                      </a:r>
                      <a:r>
                        <a:rPr lang="zh-CN" altLang="en-US" sz="900" b="1" dirty="0"/>
                        <a:t>人</a:t>
                      </a:r>
                      <a:r>
                        <a:rPr lang="en-US" altLang="zh-CN" sz="900" b="1" dirty="0"/>
                        <a:t>2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人</a:t>
                      </a:r>
                      <a:r>
                        <a:rPr lang="en-US" altLang="zh-CN" sz="900" b="1" dirty="0"/>
                        <a:t>1-</a:t>
                      </a:r>
                      <a:r>
                        <a:rPr lang="zh-CN" altLang="en-US" sz="900" b="1" dirty="0"/>
                        <a:t>人</a:t>
                      </a:r>
                      <a:r>
                        <a:rPr lang="en-US" altLang="zh-CN" sz="900" b="1" dirty="0"/>
                        <a:t>2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0.6855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0.6265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379305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Baseline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Baseline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0.75 / 0.85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0.4767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0.3900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0.2546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0.6296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0.2727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0.2677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041694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标题</a:t>
                      </a:r>
                      <a:r>
                        <a:rPr lang="en-US" altLang="zh-CN" sz="900" b="1" dirty="0"/>
                        <a:t>-</a:t>
                      </a:r>
                      <a:r>
                        <a:rPr lang="zh-CN" altLang="en-US" sz="900" b="1" dirty="0"/>
                        <a:t>正文计算相似度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TFIDF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 / 0.15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0.4668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0.4346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0.1474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0.3354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0.6141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0.2896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0.4000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926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Doc2vec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0.30 / 0.40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0.4128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0.3823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0.1007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0.1795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0.5042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0.3694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0.2734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082344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Skip-gram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0.50 / 0.75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0.4300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0.3698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0.1007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0.1264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0.5238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0.4087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0.1770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789688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BERT-Gen HT</a:t>
                      </a:r>
                    </a:p>
                    <a:p>
                      <a:pPr algn="ctr"/>
                      <a:r>
                        <a:rPr lang="en-US" altLang="zh-CN" sz="900" b="1" dirty="0"/>
                        <a:t>(Topk</a:t>
                      </a:r>
                      <a:r>
                        <a:rPr lang="zh-CN" altLang="en-US" sz="900" b="1" dirty="0"/>
                        <a:t>相似度取最大值，</a:t>
                      </a:r>
                      <a:r>
                        <a:rPr lang="en-US" altLang="zh-CN" sz="900" b="1" dirty="0"/>
                        <a:t>CLS)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BERT-Gen HT</a:t>
                      </a:r>
                    </a:p>
                    <a:p>
                      <a:pPr algn="ctr"/>
                      <a:r>
                        <a:rPr lang="en-US" altLang="zh-CN" sz="900" b="1" dirty="0"/>
                        <a:t>(Topk</a:t>
                      </a:r>
                      <a:r>
                        <a:rPr lang="zh-CN" altLang="en-US" sz="900" b="1" dirty="0"/>
                        <a:t>相似度取最大值</a:t>
                      </a:r>
                    </a:p>
                    <a:p>
                      <a:pPr algn="ctr"/>
                      <a:r>
                        <a:rPr lang="en-US" altLang="zh-CN" sz="900" b="1" dirty="0"/>
                        <a:t>,CLS)</a:t>
                      </a:r>
                      <a:endParaRPr lang="zh-CN" alt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Topk=50 / 0.60 / 0.80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0.4939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0.4571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0.1081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0.6373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0.3820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7855189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BERT-NSP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1569439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AS-Reader(+SPP,</a:t>
                      </a:r>
                      <a:r>
                        <a:rPr lang="zh-CN" altLang="en-US" sz="900" b="1" dirty="0"/>
                        <a:t>取平均</a:t>
                      </a:r>
                      <a:r>
                        <a:rPr lang="en-US" altLang="zh-CN" sz="900" b="1" dirty="0"/>
                        <a:t>)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0.3871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2789269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AS-Reader(+SPP,</a:t>
                      </a:r>
                      <a:r>
                        <a:rPr lang="zh-CN" altLang="en-US" sz="900" b="1" dirty="0"/>
                        <a:t>取</a:t>
                      </a:r>
                      <a:r>
                        <a:rPr lang="en-US" altLang="zh-CN" sz="900" b="1" dirty="0"/>
                        <a:t>Last Time)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933368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A5F7F05-795F-4399-88CA-340972E8A2B0}"/>
              </a:ext>
            </a:extLst>
          </p:cNvPr>
          <p:cNvSpPr txBox="1"/>
          <p:nvPr/>
        </p:nvSpPr>
        <p:spPr>
          <a:xfrm>
            <a:off x="768626" y="4739741"/>
            <a:ext cx="69669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结论：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直接计算标题</a:t>
            </a:r>
            <a:r>
              <a:rPr lang="en-US" altLang="zh-CN" dirty="0"/>
              <a:t>-</a:t>
            </a:r>
            <a:r>
              <a:rPr lang="zh-CN" altLang="en-US" dirty="0"/>
              <a:t>正文相似度时</a:t>
            </a:r>
            <a:r>
              <a:rPr lang="en-US" altLang="zh-CN" dirty="0"/>
              <a:t>TFIDF</a:t>
            </a:r>
            <a:r>
              <a:rPr lang="zh-CN" altLang="en-US" dirty="0"/>
              <a:t>指标优于</a:t>
            </a:r>
            <a:r>
              <a:rPr lang="en-US" altLang="zh-CN" dirty="0"/>
              <a:t>Doc2vec</a:t>
            </a:r>
            <a:r>
              <a:rPr lang="zh-CN" altLang="en-US" dirty="0"/>
              <a:t>和</a:t>
            </a:r>
            <a:r>
              <a:rPr lang="en-US" altLang="zh-CN" dirty="0"/>
              <a:t>Skip-gram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BERT-Gen HT</a:t>
            </a:r>
            <a:r>
              <a:rPr lang="zh-CN" altLang="en-US" dirty="0"/>
              <a:t>方案结果最优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AS-Reader</a:t>
            </a:r>
            <a:r>
              <a:rPr lang="zh-CN" altLang="en-US" dirty="0"/>
              <a:t>标题表示取</a:t>
            </a:r>
            <a:r>
              <a:rPr lang="en-US" altLang="zh-CN" dirty="0"/>
              <a:t>Last Time</a:t>
            </a:r>
            <a:r>
              <a:rPr lang="zh-CN" altLang="en-US" dirty="0"/>
              <a:t>指标较平均优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64310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BD85A-2AC3-4538-B31A-C177A20E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指标更新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80FB0C-B9C6-4304-A381-4D6CF4604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DataSet2</a:t>
            </a:r>
            <a:r>
              <a:rPr lang="zh-CN" altLang="en-US" dirty="0"/>
              <a:t>指标更新</a:t>
            </a:r>
          </a:p>
        </p:txBody>
      </p:sp>
      <p:graphicFrame>
        <p:nvGraphicFramePr>
          <p:cNvPr id="5" name="表格 11">
            <a:extLst>
              <a:ext uri="{FF2B5EF4-FFF2-40B4-BE49-F238E27FC236}">
                <a16:creationId xmlns:a16="http://schemas.microsoft.com/office/drawing/2014/main" id="{54BB272F-3E1A-402F-9D28-94F31A058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96505"/>
              </p:ext>
            </p:extLst>
          </p:nvPr>
        </p:nvGraphicFramePr>
        <p:xfrm>
          <a:off x="220022" y="1592263"/>
          <a:ext cx="870056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784429581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693444544"/>
                    </a:ext>
                  </a:extLst>
                </a:gridCol>
                <a:gridCol w="1091215">
                  <a:extLst>
                    <a:ext uri="{9D8B030D-6E8A-4147-A177-3AD203B41FA5}">
                      <a16:colId xmlns:a16="http://schemas.microsoft.com/office/drawing/2014/main" val="3262329866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2514827036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1806854799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4150396025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1746095540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3513093503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2457331703"/>
                    </a:ext>
                  </a:extLst>
                </a:gridCol>
                <a:gridCol w="685907">
                  <a:extLst>
                    <a:ext uri="{9D8B030D-6E8A-4147-A177-3AD203B41FA5}">
                      <a16:colId xmlns:a16="http://schemas.microsoft.com/office/drawing/2014/main" val="22757150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DataSet2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DataSet1</a:t>
                      </a:r>
                      <a:endParaRPr lang="zh-CN" altLang="en-US" sz="900" b="1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阈值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模型预测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10906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-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Marco-F1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相关系数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165806"/>
                  </a:ext>
                </a:extLst>
              </a:tr>
              <a:tr h="180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Baseline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Baseline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 / 0.95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0.4347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0.3215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0.4885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0.5333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041694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标题</a:t>
                      </a:r>
                      <a:r>
                        <a:rPr lang="en-US" altLang="zh-CN" sz="900" b="1" dirty="0"/>
                        <a:t>-</a:t>
                      </a:r>
                      <a:r>
                        <a:rPr lang="zh-CN" altLang="en-US" sz="900" b="1" dirty="0"/>
                        <a:t>正文计算相似度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TFIDF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 / 0.20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0.5240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0.5275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0.1040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0.5255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0.5065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0.4114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0.6645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926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Doc2vec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0.30 / 0.40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0.4660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0.4743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0.0660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0.3946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0.4962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0.4121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0.5118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082344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Skip-gram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0.65 / 0.75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0.4210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0.4017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0.1760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0.2102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0.5178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0.2942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0.3932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789688"/>
                  </a:ext>
                </a:extLst>
              </a:tr>
              <a:tr h="216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BERT-Gen HT</a:t>
                      </a:r>
                    </a:p>
                    <a:p>
                      <a:pPr algn="ctr"/>
                      <a:r>
                        <a:rPr lang="en-US" altLang="zh-CN" sz="900" b="1" dirty="0"/>
                        <a:t>(Topk</a:t>
                      </a:r>
                      <a:r>
                        <a:rPr lang="zh-CN" altLang="en-US" sz="900" b="1" dirty="0"/>
                        <a:t>相似度取最大值，</a:t>
                      </a:r>
                      <a:r>
                        <a:rPr lang="en-US" altLang="zh-CN" sz="900" b="1" dirty="0"/>
                        <a:t>CLS)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BERT-Gen HT</a:t>
                      </a:r>
                    </a:p>
                    <a:p>
                      <a:pPr algn="ctr"/>
                      <a:r>
                        <a:rPr lang="en-US" altLang="zh-CN" sz="900" b="1" dirty="0"/>
                        <a:t>(Topk</a:t>
                      </a:r>
                      <a:r>
                        <a:rPr lang="zh-CN" altLang="en-US" sz="900" b="1" dirty="0"/>
                        <a:t>相似度取最大值</a:t>
                      </a:r>
                    </a:p>
                    <a:p>
                      <a:pPr algn="ctr"/>
                      <a:r>
                        <a:rPr lang="en-US" altLang="zh-CN" sz="900" b="1" dirty="0"/>
                        <a:t>,CLS)</a:t>
                      </a:r>
                      <a:endParaRPr lang="zh-CN" alt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7855189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BERT-NSP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0.7710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1569439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AS-Reader(+SPP,</a:t>
                      </a:r>
                      <a:r>
                        <a:rPr lang="zh-CN" altLang="en-US" sz="900" b="1" dirty="0"/>
                        <a:t>取平均</a:t>
                      </a:r>
                      <a:r>
                        <a:rPr lang="en-US" altLang="zh-CN" sz="900" b="1" dirty="0"/>
                        <a:t>)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0.5990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0.7743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0.6581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2789269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/>
                        <a:t>AS-Reader(+SPP,</a:t>
                      </a:r>
                      <a:r>
                        <a:rPr lang="zh-CN" altLang="en-US" sz="900" b="1" dirty="0"/>
                        <a:t>取</a:t>
                      </a:r>
                      <a:r>
                        <a:rPr lang="en-US" altLang="zh-CN" sz="900" b="1" dirty="0"/>
                        <a:t>Last Time)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0.6520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758098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8A2F32A-8B76-4DB8-B625-19D9804C2F05}"/>
              </a:ext>
            </a:extLst>
          </p:cNvPr>
          <p:cNvSpPr txBox="1"/>
          <p:nvPr/>
        </p:nvSpPr>
        <p:spPr>
          <a:xfrm>
            <a:off x="768626" y="4739741"/>
            <a:ext cx="69669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结论：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直接计算标题</a:t>
            </a:r>
            <a:r>
              <a:rPr lang="en-US" altLang="zh-CN" dirty="0"/>
              <a:t>-</a:t>
            </a:r>
            <a:r>
              <a:rPr lang="zh-CN" altLang="en-US" dirty="0"/>
              <a:t>正文相似度时</a:t>
            </a:r>
            <a:r>
              <a:rPr lang="en-US" altLang="zh-CN" dirty="0"/>
              <a:t>TFIDF</a:t>
            </a:r>
            <a:r>
              <a:rPr lang="zh-CN" altLang="en-US" dirty="0"/>
              <a:t>指标优于</a:t>
            </a:r>
            <a:r>
              <a:rPr lang="en-US" altLang="zh-CN" dirty="0"/>
              <a:t>Doc2vec</a:t>
            </a:r>
            <a:r>
              <a:rPr lang="zh-CN" altLang="en-US" dirty="0"/>
              <a:t>和</a:t>
            </a:r>
            <a:r>
              <a:rPr lang="en-US" altLang="zh-CN" dirty="0"/>
              <a:t>Skip-gram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BERT-NSP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方案结果最优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AS-Reader</a:t>
            </a:r>
            <a:r>
              <a:rPr lang="zh-CN" altLang="en-US" dirty="0"/>
              <a:t>标题表示取</a:t>
            </a:r>
            <a:r>
              <a:rPr lang="en-US" altLang="zh-CN" dirty="0"/>
              <a:t>Last Time</a:t>
            </a:r>
            <a:r>
              <a:rPr lang="zh-CN" altLang="en-US" dirty="0"/>
              <a:t>指标较平均差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725126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09DAF44-A81E-48BC-BC33-B60FD90F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数据集（两档）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D4AFEC-7361-40A1-AE97-A15C1343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DE22-5817-46C0-80E9-A3D6E9FBA666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2473F-AFCF-46D8-9CA5-6F787455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E6089EE-DD38-4032-8E55-7196B0F309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训练集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验证集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同步作文</a:t>
                </a:r>
                <a:endParaRPr lang="en-US" altLang="zh-CN" dirty="0"/>
              </a:p>
              <a:p>
                <a:r>
                  <a:rPr lang="zh-CN" altLang="en-US" dirty="0"/>
                  <a:t>测试集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Datase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：同步作文，</a:t>
                </a:r>
                <a:r>
                  <a:rPr lang="en-US" altLang="zh-CN" dirty="0"/>
                  <a:t>199</a:t>
                </a:r>
                <a:r>
                  <a:rPr lang="zh-CN" altLang="en-US" dirty="0"/>
                  <a:t>篇原始数据</a:t>
                </a:r>
                <a:r>
                  <a:rPr lang="en-US" altLang="zh-CN" dirty="0"/>
                  <a:t>+208</a:t>
                </a:r>
                <a:r>
                  <a:rPr lang="zh-CN" altLang="en-US" dirty="0"/>
                  <a:t>篇构造数据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不离题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部分离题 → 非离题类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完全离题 → 离题类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Datase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：乐乐课堂，</a:t>
                </a:r>
                <a:r>
                  <a:rPr lang="en-US" altLang="zh-CN" dirty="0"/>
                  <a:t>2200</a:t>
                </a:r>
                <a:r>
                  <a:rPr lang="zh-CN" altLang="en-US" dirty="0"/>
                  <a:t>篇构造数据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E6089EE-DD38-4032-8E55-7196B0F30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1" t="-1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4">
                <a:extLst>
                  <a:ext uri="{FF2B5EF4-FFF2-40B4-BE49-F238E27FC236}">
                    <a16:creationId xmlns:a16="http://schemas.microsoft.com/office/drawing/2014/main" id="{5AB7B1CD-DE36-4880-AC66-11EC93D00E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1506350"/>
                  </p:ext>
                </p:extLst>
              </p:nvPr>
            </p:nvGraphicFramePr>
            <p:xfrm>
              <a:off x="2308286" y="3795267"/>
              <a:ext cx="7575428" cy="1203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714">
                      <a:extLst>
                        <a:ext uri="{9D8B030D-6E8A-4147-A177-3AD203B41FA5}">
                          <a16:colId xmlns:a16="http://schemas.microsoft.com/office/drawing/2014/main" val="668397034"/>
                        </a:ext>
                      </a:extLst>
                    </a:gridCol>
                    <a:gridCol w="925714">
                      <a:extLst>
                        <a:ext uri="{9D8B030D-6E8A-4147-A177-3AD203B41FA5}">
                          <a16:colId xmlns:a16="http://schemas.microsoft.com/office/drawing/2014/main" val="160564073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926641678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070502366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159761267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5809832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sz="1400" b="1" i="0" dirty="0"/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非离题类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离题类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合计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数据来源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749690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i="0" dirty="0"/>
                            <a:t>验证集</a:t>
                          </a:r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rgbClr val="E9EBF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1" i="0" dirty="0"/>
                            <a:t>验证集</a:t>
                          </a:r>
                          <a:endParaRPr lang="en-US" altLang="zh-CN" sz="1400" b="1" i="0" dirty="0"/>
                        </a:p>
                      </a:txBody>
                      <a:tcPr anchor="ctr">
                        <a:solidFill>
                          <a:srgbClr val="E9EB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/>
                            <a:t>221</a:t>
                          </a:r>
                          <a:endParaRPr lang="zh-CN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/>
                            <a:t>55</a:t>
                          </a:r>
                          <a:endParaRPr lang="zh-CN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/>
                            <a:t>276</a:t>
                          </a:r>
                          <a:endParaRPr lang="zh-CN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dirty="0"/>
                            <a:t>训练集划分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1877256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i="0" dirty="0">
                              <a:solidFill>
                                <a:schemeClr val="tx1"/>
                              </a:solidFill>
                            </a:rPr>
                            <a:t>测试集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1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𝐃𝐚𝐭𝐚𝐬𝐞</m:t>
                                </m:r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en-US" altLang="zh-CN" sz="11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329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78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407</a:t>
                          </a:r>
                          <a:endParaRPr lang="zh-CN" alt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同步作文（</a:t>
                          </a:r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199</a:t>
                          </a:r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原始数据</a:t>
                          </a:r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+208</a:t>
                          </a:r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篇构造数据，双标）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160703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4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1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𝐃𝐚𝐭𝐚𝐬𝐞</m:t>
                                </m:r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en-US" altLang="zh-CN" sz="11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2200</a:t>
                          </a:r>
                          <a:endParaRPr lang="zh-CN" alt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乐乐课堂，随机替换标题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34512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4">
                <a:extLst>
                  <a:ext uri="{FF2B5EF4-FFF2-40B4-BE49-F238E27FC236}">
                    <a16:creationId xmlns:a16="http://schemas.microsoft.com/office/drawing/2014/main" id="{5AB7B1CD-DE36-4880-AC66-11EC93D00E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1506350"/>
                  </p:ext>
                </p:extLst>
              </p:nvPr>
            </p:nvGraphicFramePr>
            <p:xfrm>
              <a:off x="2308286" y="3795267"/>
              <a:ext cx="7575428" cy="1203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714">
                      <a:extLst>
                        <a:ext uri="{9D8B030D-6E8A-4147-A177-3AD203B41FA5}">
                          <a16:colId xmlns:a16="http://schemas.microsoft.com/office/drawing/2014/main" val="668397034"/>
                        </a:ext>
                      </a:extLst>
                    </a:gridCol>
                    <a:gridCol w="925714">
                      <a:extLst>
                        <a:ext uri="{9D8B030D-6E8A-4147-A177-3AD203B41FA5}">
                          <a16:colId xmlns:a16="http://schemas.microsoft.com/office/drawing/2014/main" val="160564073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926641678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070502366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3159761267"/>
                        </a:ext>
                      </a:extLst>
                    </a:gridCol>
                    <a:gridCol w="2484000">
                      <a:extLst>
                        <a:ext uri="{9D8B030D-6E8A-4147-A177-3AD203B41FA5}">
                          <a16:colId xmlns:a16="http://schemas.microsoft.com/office/drawing/2014/main" val="58098322"/>
                        </a:ext>
                      </a:extLst>
                    </a:gridCol>
                  </a:tblGrid>
                  <a:tr h="259080">
                    <a:tc gridSpan="2">
                      <a:txBody>
                        <a:bodyPr/>
                        <a:lstStyle/>
                        <a:p>
                          <a:pPr algn="ctr"/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sz="1400" b="1" i="0" dirty="0"/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非离题类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离题类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合计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dirty="0"/>
                            <a:t>数据来源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749690"/>
                      </a:ext>
                    </a:extLst>
                  </a:tr>
                  <a:tr h="25908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i="0" dirty="0"/>
                            <a:t>验证集</a:t>
                          </a:r>
                          <a:endParaRPr lang="en-US" altLang="zh-CN" sz="1100" b="1" i="0" dirty="0"/>
                        </a:p>
                      </a:txBody>
                      <a:tcPr anchor="ctr">
                        <a:solidFill>
                          <a:srgbClr val="E9EBF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b="1" i="0" dirty="0"/>
                            <a:t>验证集</a:t>
                          </a:r>
                          <a:endParaRPr lang="en-US" altLang="zh-CN" sz="1400" b="1" i="0" dirty="0"/>
                        </a:p>
                      </a:txBody>
                      <a:tcPr anchor="ctr">
                        <a:solidFill>
                          <a:srgbClr val="E9EB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/>
                            <a:t>221</a:t>
                          </a:r>
                          <a:endParaRPr lang="zh-CN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/>
                            <a:t>55</a:t>
                          </a:r>
                          <a:endParaRPr lang="zh-CN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dirty="0"/>
                            <a:t>276</a:t>
                          </a:r>
                          <a:endParaRPr lang="zh-CN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dirty="0"/>
                            <a:t>训练集划分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1877256"/>
                      </a:ext>
                    </a:extLst>
                  </a:tr>
                  <a:tr h="4267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1" i="0" dirty="0">
                              <a:solidFill>
                                <a:schemeClr val="tx1"/>
                              </a:solidFill>
                            </a:rPr>
                            <a:t>测试集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58" t="-124286" r="-621053" b="-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329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78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407</a:t>
                          </a:r>
                          <a:endParaRPr lang="zh-CN" alt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同步作文（</a:t>
                          </a:r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199</a:t>
                          </a:r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原始数据</a:t>
                          </a:r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+208</a:t>
                          </a:r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篇构造数据，双标）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160703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4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58" t="-365116" r="-621053" b="-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200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100" b="0" dirty="0">
                              <a:solidFill>
                                <a:schemeClr val="tx1"/>
                              </a:solidFill>
                            </a:rPr>
                            <a:t>2200</a:t>
                          </a:r>
                          <a:endParaRPr lang="zh-CN" altLang="en-US" sz="1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100" b="0" dirty="0">
                              <a:solidFill>
                                <a:schemeClr val="tx1"/>
                              </a:solidFill>
                            </a:rPr>
                            <a:t>乐乐课堂，随机替换标题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034512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C6469F5F-5437-465F-8EA9-81E89FFD0FFA}"/>
              </a:ext>
            </a:extLst>
          </p:cNvPr>
          <p:cNvSpPr txBox="1"/>
          <p:nvPr/>
        </p:nvSpPr>
        <p:spPr>
          <a:xfrm>
            <a:off x="4766950" y="5341927"/>
            <a:ext cx="2658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表</a:t>
            </a:r>
            <a:r>
              <a:rPr lang="en-US" altLang="zh-CN" sz="1400" dirty="0"/>
              <a:t>1. </a:t>
            </a:r>
            <a:r>
              <a:rPr lang="zh-CN" altLang="en-US" sz="1400" dirty="0"/>
              <a:t>训练集</a:t>
            </a:r>
            <a:r>
              <a:rPr lang="en-US" altLang="zh-CN" sz="1400" dirty="0"/>
              <a:t>/</a:t>
            </a:r>
            <a:r>
              <a:rPr lang="zh-CN" altLang="en-US" sz="1400" dirty="0"/>
              <a:t>验证集</a:t>
            </a:r>
            <a:r>
              <a:rPr lang="en-US" altLang="zh-CN" sz="1400" dirty="0"/>
              <a:t>/</a:t>
            </a:r>
            <a:r>
              <a:rPr lang="zh-CN" altLang="en-US" sz="1400" dirty="0"/>
              <a:t>测试集分布</a:t>
            </a:r>
          </a:p>
        </p:txBody>
      </p:sp>
    </p:spTree>
    <p:extLst>
      <p:ext uri="{BB962C8B-B14F-4D97-AF65-F5344CB8AC3E}">
        <p14:creationId xmlns:p14="http://schemas.microsoft.com/office/powerpoint/2010/main" val="218272240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5567EA-C29F-4BED-A9A1-F00D8D08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指标更新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36F5D3-7D68-4F6D-8F92-C38ACCD5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DataSet1</a:t>
            </a:r>
            <a:r>
              <a:rPr lang="zh-CN" altLang="en-US" dirty="0"/>
              <a:t>指标更新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D3A8D46-49D5-43C5-BAFA-6D56922D6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977009"/>
              </p:ext>
            </p:extLst>
          </p:nvPr>
        </p:nvGraphicFramePr>
        <p:xfrm>
          <a:off x="220022" y="1592263"/>
          <a:ext cx="9864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88939425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5671468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5258041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2323166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9103793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887583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5573355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60201244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68870492"/>
                    </a:ext>
                  </a:extLst>
                </a:gridCol>
              </a:tblGrid>
              <a:tr h="25200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DataSet1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r>
                        <a:rPr lang="en-US" altLang="zh-CN" dirty="0"/>
                        <a:t>DataSet1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15249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Acc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非离题</a:t>
                      </a:r>
                      <a:r>
                        <a:rPr lang="en-US" altLang="zh-CN" sz="1200" b="1" dirty="0"/>
                        <a:t>F1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离题</a:t>
                      </a:r>
                      <a:r>
                        <a:rPr lang="en-US" altLang="zh-CN" sz="1200" b="1" dirty="0"/>
                        <a:t>F1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Marco-F1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随机</a:t>
                      </a:r>
                      <a:r>
                        <a:rPr lang="en-US" altLang="zh-CN" sz="1200" b="1" dirty="0"/>
                        <a:t>Acc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随机</a:t>
                      </a:r>
                      <a:r>
                        <a:rPr lang="en-US" altLang="zh-CN" sz="1200" b="1" dirty="0"/>
                        <a:t>Marco-F1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201416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人</a:t>
                      </a:r>
                      <a:r>
                        <a:rPr lang="en-US" altLang="zh-CN" sz="1200" b="1" dirty="0"/>
                        <a:t>1-</a:t>
                      </a:r>
                      <a:r>
                        <a:rPr lang="zh-CN" altLang="en-US" sz="1200" b="1" dirty="0"/>
                        <a:t>人</a:t>
                      </a:r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0.7862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0.8659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0.4727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0.6693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98737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Baseline(</a:t>
                      </a:r>
                      <a:r>
                        <a:rPr lang="zh-CN" altLang="en-US" sz="1200" b="1" dirty="0"/>
                        <a:t>线上系统</a:t>
                      </a:r>
                      <a:r>
                        <a:rPr lang="en-US" altLang="zh-CN" sz="1200" b="1" dirty="0"/>
                        <a:t>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0.7543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0.8471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0.3750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0.6111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0.5099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288496"/>
                  </a:ext>
                </a:extLst>
              </a:tr>
              <a:tr h="252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标题</a:t>
                      </a:r>
                      <a:r>
                        <a:rPr lang="en-US" altLang="zh-CN" sz="1200" b="1" dirty="0"/>
                        <a:t>-</a:t>
                      </a:r>
                      <a:r>
                        <a:rPr lang="zh-CN" altLang="en-US" sz="1200" b="1" dirty="0"/>
                        <a:t>正文表示计算相似度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TFIDF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0.6929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0.8006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0.3316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0.5661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0.6388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0.4897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7680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Doc2vec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0.6364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0.7483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0.3451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0.5467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0.5823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0.4793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74059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Skip-gram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0.7199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0.8257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0.2875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0.5566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0.6904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0.5099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15838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BERT-Gen HT</a:t>
                      </a:r>
                    </a:p>
                    <a:p>
                      <a:pPr algn="ctr"/>
                      <a:r>
                        <a:rPr lang="en-US" altLang="zh-CN" sz="1200" b="1" dirty="0"/>
                        <a:t>(Topk</a:t>
                      </a:r>
                      <a:r>
                        <a:rPr lang="zh-CN" altLang="en-US" sz="1200" b="1" dirty="0"/>
                        <a:t>相似度取最大值，</a:t>
                      </a:r>
                      <a:r>
                        <a:rPr lang="en-US" altLang="zh-CN" sz="1200" b="1" dirty="0"/>
                        <a:t>CLS)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50 / 0.60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0.7273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0.8257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0.3729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0.5993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0.4770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671600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BERT-NSP(45W)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0.7887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0.8757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0.2951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0.5854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730650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AS-Reader(15W)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0.8034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0.8844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0.3443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0.6144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3217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16AA9B0-C837-4D4F-9F78-A245EA302E32}"/>
              </a:ext>
            </a:extLst>
          </p:cNvPr>
          <p:cNvSpPr txBox="1"/>
          <p:nvPr/>
        </p:nvSpPr>
        <p:spPr>
          <a:xfrm>
            <a:off x="567634" y="5161725"/>
            <a:ext cx="71577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结论：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直接计算标题</a:t>
            </a:r>
            <a:r>
              <a:rPr lang="en-US" altLang="zh-CN" dirty="0"/>
              <a:t>-</a:t>
            </a:r>
            <a:r>
              <a:rPr lang="zh-CN" altLang="en-US" dirty="0"/>
              <a:t>正文相似度时</a:t>
            </a:r>
            <a:r>
              <a:rPr lang="en-US" altLang="zh-CN" dirty="0"/>
              <a:t>Do2vec </a:t>
            </a:r>
            <a:r>
              <a:rPr lang="zh-CN" altLang="en-US" dirty="0"/>
              <a:t>离题</a:t>
            </a:r>
            <a:r>
              <a:rPr lang="en-US" altLang="zh-CN" dirty="0"/>
              <a:t>F1</a:t>
            </a:r>
            <a:r>
              <a:rPr lang="zh-CN" altLang="en-US" dirty="0"/>
              <a:t>优于</a:t>
            </a:r>
            <a:r>
              <a:rPr lang="en-US" altLang="zh-CN" dirty="0"/>
              <a:t>TFIDF</a:t>
            </a:r>
            <a:r>
              <a:rPr lang="zh-CN" altLang="en-US" dirty="0"/>
              <a:t>和</a:t>
            </a:r>
            <a:r>
              <a:rPr lang="en-US" altLang="zh-CN" dirty="0"/>
              <a:t>Skip-gram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Baseline</a:t>
            </a:r>
            <a:r>
              <a:rPr lang="zh-CN" altLang="en-US" dirty="0"/>
              <a:t>结果最优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639903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2193C-DCFE-4C3C-98CB-A7FB4869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指标更新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22F531-FE3F-4A05-8BB2-E9E945DE2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DataSet2</a:t>
            </a:r>
            <a:r>
              <a:rPr lang="zh-CN" altLang="en-US" dirty="0"/>
              <a:t>指标更新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D3A8D46-49D5-43C5-BAFA-6D56922D6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027146"/>
              </p:ext>
            </p:extLst>
          </p:nvPr>
        </p:nvGraphicFramePr>
        <p:xfrm>
          <a:off x="220022" y="1592263"/>
          <a:ext cx="9864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88939425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5671468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95258041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2323166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19103793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887583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5573355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60201244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68870492"/>
                    </a:ext>
                  </a:extLst>
                </a:gridCol>
              </a:tblGrid>
              <a:tr h="25200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DataSet2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r>
                        <a:rPr lang="en-US" altLang="zh-CN" dirty="0"/>
                        <a:t>DataSet1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15249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Acc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非离题</a:t>
                      </a:r>
                      <a:r>
                        <a:rPr lang="en-US" altLang="zh-CN" sz="1200" b="1" dirty="0"/>
                        <a:t>F1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离题</a:t>
                      </a:r>
                      <a:r>
                        <a:rPr lang="en-US" altLang="zh-CN" sz="1200" b="1" dirty="0"/>
                        <a:t>F1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Marco-F1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随机</a:t>
                      </a:r>
                      <a:r>
                        <a:rPr lang="en-US" altLang="zh-CN" sz="1200" b="1" dirty="0"/>
                        <a:t>Acc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随机</a:t>
                      </a:r>
                      <a:r>
                        <a:rPr lang="en-US" altLang="zh-CN" sz="1200" b="1" dirty="0"/>
                        <a:t>Marco-F1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201416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Baseline(</a:t>
                      </a:r>
                      <a:r>
                        <a:rPr lang="zh-CN" altLang="en-US" sz="1200" b="1" dirty="0"/>
                        <a:t>线上系统</a:t>
                      </a:r>
                      <a:r>
                        <a:rPr lang="en-US" altLang="zh-CN" sz="1200" b="1" dirty="0"/>
                        <a:t>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0.9277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0.9605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0.5805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0.7705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0.4991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288496"/>
                  </a:ext>
                </a:extLst>
              </a:tr>
              <a:tr h="252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标题</a:t>
                      </a:r>
                      <a:r>
                        <a:rPr lang="en-US" altLang="zh-CN" sz="1200" b="1" dirty="0"/>
                        <a:t>-</a:t>
                      </a:r>
                      <a:r>
                        <a:rPr lang="zh-CN" altLang="en-US" sz="1200" b="1" dirty="0"/>
                        <a:t>正文表示计算相似度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TFIDF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0.10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0.8641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0.9199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0.5531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0.7365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0.7359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0.48799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7680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Doc2vec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0.8627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0.9229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0.3734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0.6482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0.8327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0.4940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74059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Skip-gram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0.8291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0.9034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0.2598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0.5816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0.7955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0.4993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15838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BERT-Gen HT</a:t>
                      </a:r>
                    </a:p>
                    <a:p>
                      <a:pPr algn="ctr"/>
                      <a:r>
                        <a:rPr lang="en-US" altLang="zh-CN" sz="1200" b="1" dirty="0"/>
                        <a:t>(Topk</a:t>
                      </a:r>
                      <a:r>
                        <a:rPr lang="zh-CN" altLang="en-US" sz="1200" b="1" dirty="0"/>
                        <a:t>相似度取最大值，</a:t>
                      </a:r>
                      <a:r>
                        <a:rPr lang="en-US" altLang="zh-CN" sz="1200" b="1" dirty="0"/>
                        <a:t>CLS)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 / 0.65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0.8973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0.9412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0.5921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0.7667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0.5044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671600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BERT-NSP(45W)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0.9436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0.9684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0.8700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0.7373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730650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AS-Reader(15W)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0.9195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0.9552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0.6040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0.7796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-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3217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23E8449-F3E4-4062-AB2E-9050C290B7AA}"/>
              </a:ext>
            </a:extLst>
          </p:cNvPr>
          <p:cNvSpPr txBox="1"/>
          <p:nvPr/>
        </p:nvSpPr>
        <p:spPr>
          <a:xfrm>
            <a:off x="567634" y="5161725"/>
            <a:ext cx="70952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结论：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直接计算标题</a:t>
            </a:r>
            <a:r>
              <a:rPr lang="en-US" altLang="zh-CN" dirty="0"/>
              <a:t>-</a:t>
            </a:r>
            <a:r>
              <a:rPr lang="zh-CN" altLang="en-US" dirty="0"/>
              <a:t>正文相似度时</a:t>
            </a:r>
            <a:r>
              <a:rPr lang="en-US" altLang="zh-CN" dirty="0"/>
              <a:t>TFIDF</a:t>
            </a:r>
            <a:r>
              <a:rPr lang="zh-CN" altLang="en-US" dirty="0"/>
              <a:t>离题</a:t>
            </a:r>
            <a:r>
              <a:rPr lang="en-US" altLang="zh-CN" dirty="0"/>
              <a:t>F1</a:t>
            </a:r>
            <a:r>
              <a:rPr lang="zh-CN" altLang="en-US" dirty="0"/>
              <a:t>优于</a:t>
            </a:r>
            <a:r>
              <a:rPr lang="en-US" altLang="zh-CN" dirty="0"/>
              <a:t>Do2vec</a:t>
            </a:r>
            <a:r>
              <a:rPr lang="zh-CN" altLang="en-US" dirty="0"/>
              <a:t>和</a:t>
            </a:r>
            <a:r>
              <a:rPr lang="en-US" altLang="zh-CN" dirty="0"/>
              <a:t>Skip-gram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BERT-NSP</a:t>
            </a:r>
            <a:r>
              <a:rPr lang="zh-CN" altLang="en-US" dirty="0"/>
              <a:t>方案结果最优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090061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19FED-6862-41D3-808F-02F87834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下一步工作计划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14138-BB4B-42F4-AA0B-FF2FF240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正文匹配</a:t>
            </a:r>
            <a:endParaRPr lang="en-US" altLang="zh-CN" dirty="0"/>
          </a:p>
          <a:p>
            <a:pPr lvl="1"/>
            <a:r>
              <a:rPr lang="en-US" altLang="zh-CN" dirty="0"/>
              <a:t>check</a:t>
            </a:r>
            <a:r>
              <a:rPr lang="zh-CN" altLang="en-US" dirty="0"/>
              <a:t>测试集：对离题类型进行统计</a:t>
            </a:r>
            <a:endParaRPr lang="en-US" altLang="zh-CN" dirty="0"/>
          </a:p>
          <a:p>
            <a:pPr lvl="1"/>
            <a:r>
              <a:rPr lang="en-US" altLang="zh-CN" dirty="0"/>
              <a:t>BERT-Gen</a:t>
            </a:r>
            <a:r>
              <a:rPr lang="zh-CN" altLang="en-US" dirty="0"/>
              <a:t>和</a:t>
            </a:r>
            <a:r>
              <a:rPr lang="en-US" altLang="zh-CN" dirty="0"/>
              <a:t>BERT-NSP</a:t>
            </a:r>
            <a:r>
              <a:rPr lang="zh-CN" altLang="en-US" dirty="0"/>
              <a:t>任务结合方案：</a:t>
            </a:r>
            <a:endParaRPr lang="en-US" altLang="zh-CN" dirty="0"/>
          </a:p>
          <a:p>
            <a:pPr lvl="2"/>
            <a:r>
              <a:rPr lang="zh-CN" altLang="en-US" dirty="0"/>
              <a:t>构思方案，设计</a:t>
            </a:r>
            <a:r>
              <a:rPr lang="en-US" altLang="zh-CN" dirty="0"/>
              <a:t>loss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/>
              <a:t>Demo</a:t>
            </a:r>
          </a:p>
          <a:p>
            <a:pPr lvl="1"/>
            <a:r>
              <a:rPr lang="zh-CN" altLang="en-US" dirty="0"/>
              <a:t>更新数据库和中文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075381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C85459C-513B-4DDE-AABA-3B47F043A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808" y="116239"/>
            <a:ext cx="4377266" cy="2621653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C5594487-52FE-4CA6-A5FB-8BF588AB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BERT-Gen HT(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两档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1509D-759B-4325-BE57-F49C5B72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E048-3FBB-4D0D-A841-C8A944B53E47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22195-7517-4C66-9550-C5E18A74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17A5456-0A8F-4E41-80D4-C93D4C6E3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参考作文</a:t>
            </a:r>
            <a:endParaRPr lang="en-US" altLang="zh-CN" dirty="0"/>
          </a:p>
          <a:p>
            <a:pPr lvl="1"/>
            <a:r>
              <a:rPr lang="zh-CN" altLang="en-US" dirty="0"/>
              <a:t>数据来源：乐乐课堂</a:t>
            </a:r>
            <a:endParaRPr lang="en-US" altLang="zh-CN" dirty="0"/>
          </a:p>
          <a:p>
            <a:pPr lvl="1"/>
            <a:r>
              <a:rPr lang="zh-CN" altLang="en-US" dirty="0"/>
              <a:t>数据量：</a:t>
            </a:r>
            <a:r>
              <a:rPr lang="en-US" altLang="zh-CN" dirty="0"/>
              <a:t>50W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A1E71A7A-2952-463F-80F0-8318A197A10C}"/>
              </a:ext>
            </a:extLst>
          </p:cNvPr>
          <p:cNvSpPr txBox="1">
            <a:spLocks/>
          </p:cNvSpPr>
          <p:nvPr/>
        </p:nvSpPr>
        <p:spPr>
          <a:xfrm>
            <a:off x="990600" y="1543050"/>
            <a:ext cx="10515600" cy="4786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表格 11">
                <a:extLst>
                  <a:ext uri="{FF2B5EF4-FFF2-40B4-BE49-F238E27FC236}">
                    <a16:creationId xmlns:a16="http://schemas.microsoft.com/office/drawing/2014/main" id="{871212D9-35A5-40D8-88C1-888BFC771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6434428"/>
                  </p:ext>
                </p:extLst>
              </p:nvPr>
            </p:nvGraphicFramePr>
            <p:xfrm>
              <a:off x="220022" y="4342739"/>
              <a:ext cx="747463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5819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706819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56074528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72263098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8594053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02822927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72370524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900" b="1" i="0" smtClean="0">
                                    <a:latin typeface="Cambria Math" panose="02040503050406030204" pitchFamily="18" charset="0"/>
                                  </a:rPr>
                                  <m:t>𝐃𝐚𝐭𝐚𝐬𝐞</m:t>
                                </m:r>
                                <m:sSub>
                                  <m:sSubPr>
                                    <m:ctrlP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900" b="1" i="0" smtClean="0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a:rPr lang="en-US" altLang="zh-CN" sz="9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900" b="1" i="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/>
                            <a:t>阈值</a:t>
                          </a:r>
                          <a:endParaRPr lang="zh-CN" altLang="en-US" sz="900" dirty="0"/>
                        </a:p>
                      </a:txBody>
                      <a:tcPr anchor="ctr">
                        <a:solidFill>
                          <a:srgbClr val="4472C4"/>
                        </a:solidFill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 algn="ctr"/>
                          <a:endParaRPr lang="en-US" altLang="zh-CN" sz="900" b="1" dirty="0"/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1800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dirty="0"/>
                            <a:t>0.70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0.9277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0.6145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0.5805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0.7705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0.9137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0.0844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0.4991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160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5 / 0.55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0.8486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0.8495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0.3582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0.5022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0.7065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0.8443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0.4879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0.8390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0.9051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0.4913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0.6982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0.8382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0.1329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0.4856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0.8191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0.9896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0.8095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0.3245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0.4791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0.6848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0.1440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0.4821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5 / 0.45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0.9872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0.8883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0.3174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0.4686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0.6785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0.1440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0.4821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100 / 0.65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0.9412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0.4633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0.5921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0.8752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0.5044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100 / 0.65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0.4759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0.6076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0.7756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0.1302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0.5026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表格 11">
                <a:extLst>
                  <a:ext uri="{FF2B5EF4-FFF2-40B4-BE49-F238E27FC236}">
                    <a16:creationId xmlns:a16="http://schemas.microsoft.com/office/drawing/2014/main" id="{871212D9-35A5-40D8-88C1-888BFC771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6434428"/>
                  </p:ext>
                </p:extLst>
              </p:nvPr>
            </p:nvGraphicFramePr>
            <p:xfrm>
              <a:off x="220022" y="4342739"/>
              <a:ext cx="747463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5819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706819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56074528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72263098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8594053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02822927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723705246"/>
                        </a:ext>
                      </a:extLst>
                    </a:gridCol>
                  </a:tblGrid>
                  <a:tr h="22860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8" t="-2632" r="-328920" b="-9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/>
                            <a:t>阈值</a:t>
                          </a:r>
                          <a:endParaRPr lang="zh-CN" altLang="en-US" sz="900" dirty="0"/>
                        </a:p>
                      </a:txBody>
                      <a:tcPr anchor="ctr">
                        <a:solidFill>
                          <a:srgbClr val="4472C4"/>
                        </a:solidFill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365760">
                    <a:tc gridSpan="3">
                      <a:txBody>
                        <a:bodyPr/>
                        <a:lstStyle/>
                        <a:p>
                          <a:pPr algn="ctr"/>
                          <a:endParaRPr lang="en-US" altLang="zh-CN" sz="900" b="1" dirty="0"/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dirty="0"/>
                            <a:t>0.70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0.9277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0.6145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0.5805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0.7705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0.9137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0.0844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0.4991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286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5 / 0.55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0.8486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0.8495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0.3582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0.5022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0.7065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0.8443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0.4879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0.8390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0.9051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0.4913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0.6982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0.8382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0.1329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0.4856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0.8191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0.9896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0.8095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0.3245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0.4791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0.6848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0.1440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0.4821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5 / 0.45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0.9872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0.8883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0.3174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0.4686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0.6785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0.1440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0.4821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100 / 0.65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0.9412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0.4633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0.5921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0.8752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0.5044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100 / 0.65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0.4759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0.6076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0.7756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0.8750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0.1302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0.5026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11">
                <a:extLst>
                  <a:ext uri="{FF2B5EF4-FFF2-40B4-BE49-F238E27FC236}">
                    <a16:creationId xmlns:a16="http://schemas.microsoft.com/office/drawing/2014/main" id="{933B2FC0-4CBA-47A4-9D04-228DD50DD9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0742572"/>
                  </p:ext>
                </p:extLst>
              </p:nvPr>
            </p:nvGraphicFramePr>
            <p:xfrm>
              <a:off x="220022" y="1737288"/>
              <a:ext cx="7474638" cy="2514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5819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706819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56074528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988012943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8594053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02822927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882946234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900" b="1" i="0" smtClean="0">
                                  <a:latin typeface="Cambria Math" panose="02040503050406030204" pitchFamily="18" charset="0"/>
                                </a:rPr>
                                <m:t>𝐃𝐚𝐭𝐚𝐬𝐞</m:t>
                              </m:r>
                              <m:sSub>
                                <m:sSubPr>
                                  <m:ctrlP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0" smtClean="0"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zh-CN" sz="900" b="1" i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900" b="1" i="0" dirty="0"/>
                            <a:t>(</a:t>
                          </a:r>
                          <a:r>
                            <a:rPr lang="zh-CN" altLang="en-US" sz="900" b="1" i="0" dirty="0"/>
                            <a:t>优良</a:t>
                          </a:r>
                          <a:r>
                            <a:rPr lang="en-US" altLang="zh-CN" sz="900" b="1" i="0" dirty="0"/>
                            <a:t>/</a:t>
                          </a:r>
                          <a:r>
                            <a:rPr lang="zh-CN" altLang="en-US" sz="900" b="1" i="0" dirty="0"/>
                            <a:t>中</a:t>
                          </a:r>
                          <a:r>
                            <a:rPr lang="en-US" altLang="zh-CN" sz="900" b="1" i="0" dirty="0"/>
                            <a:t>)</a:t>
                          </a: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阈值</a:t>
                          </a:r>
                        </a:p>
                      </a:txBody>
                      <a:tcPr anchor="ctr">
                        <a:solidFill>
                          <a:srgbClr val="4472C4"/>
                        </a:solidFill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329:78</a:t>
                          </a:r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1800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1-</a:t>
                          </a:r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2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0.7862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0.8314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0.4062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0.5652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0.6693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647178161"/>
                      </a:ext>
                    </a:extLst>
                  </a:tr>
                  <a:tr h="1800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dirty="0"/>
                            <a:t>0.8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0.8471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0.3659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0.3846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0.3750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0.6111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0.5099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160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10 / 0.70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0.5233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0.4468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0.2661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0.8462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0.5037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0.4167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0.4954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0.6417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0.7949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0.5235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0.5630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0.4188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0.4079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0.2857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0.3740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0.4061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0.3776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0.3421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0.4226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0.3070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0.4622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0.4195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0.3503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50 / 0.60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0.7273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0.8539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0.7994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0.3729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0.5993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0.7818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0.2147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0.4983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100 / 0.70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0.7234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0.7855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0.3750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0.5803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0.7327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0.2212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0.4770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11">
                <a:extLst>
                  <a:ext uri="{FF2B5EF4-FFF2-40B4-BE49-F238E27FC236}">
                    <a16:creationId xmlns:a16="http://schemas.microsoft.com/office/drawing/2014/main" id="{933B2FC0-4CBA-47A4-9D04-228DD50DD9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0742572"/>
                  </p:ext>
                </p:extLst>
              </p:nvPr>
            </p:nvGraphicFramePr>
            <p:xfrm>
              <a:off x="220022" y="1737288"/>
              <a:ext cx="7474638" cy="2514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5819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706819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576000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56074528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988012943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859405395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4028229279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882946234"/>
                        </a:ext>
                      </a:extLst>
                    </a:gridCol>
                  </a:tblGrid>
                  <a:tr h="22860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48" t="-2632" r="-328920" b="-10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阈值</a:t>
                          </a:r>
                        </a:p>
                      </a:txBody>
                      <a:tcPr anchor="ctr">
                        <a:solidFill>
                          <a:srgbClr val="4472C4"/>
                        </a:solidFill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36576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329:78</a:t>
                          </a:r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>
                        <a:solidFill>
                          <a:srgbClr val="CFD5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1-</a:t>
                          </a:r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2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0.7862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0.8314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0.4062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0.5652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0.6693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647178161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dirty="0"/>
                            <a:t>0.8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0.7543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0.8471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0.3659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0.3846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0.3750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0.6111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0.5099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286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10 / 0.70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0.5233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0.4468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0.6025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0.2661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0.8462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0.5037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0.4167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0.5528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0.4954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0.6417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0.7949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0.5235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0.5630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0.4188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0.4079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0.2857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0.3740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0.4061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0.3776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0.3421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0.4226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0.9352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0.3070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0.4622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0.4195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0.3024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0.3503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50 / 0.60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0.7273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0.8539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0.7994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0.8257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0.4231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0.3729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0.5993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0.7818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0.2147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0.4983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100 / 0.70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0.6806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0.8592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0.7234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0.7855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0.3750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0.5803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0.7327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0.2212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0.4770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35A0FF1A-4AF6-4245-B21E-85A7B1F913D0}"/>
              </a:ext>
            </a:extLst>
          </p:cNvPr>
          <p:cNvSpPr txBox="1"/>
          <p:nvPr/>
        </p:nvSpPr>
        <p:spPr>
          <a:xfrm>
            <a:off x="8241948" y="5019889"/>
            <a:ext cx="333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生成模型优于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246436474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D182C3B-8BDB-4059-AA67-A6913D3A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Bert NSP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两档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955B0-EB05-493F-8AA8-EBF04519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E7336A4-2D2B-4616-96DD-2B01B576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数据集</a:t>
            </a:r>
            <a:endParaRPr lang="en-US" altLang="zh-CN" dirty="0"/>
          </a:p>
          <a:p>
            <a:pPr lvl="1"/>
            <a:r>
              <a:rPr lang="zh-CN" altLang="en-US" dirty="0"/>
              <a:t>乐乐课堂，随机替换作文标题构成离题作文</a:t>
            </a:r>
            <a:endParaRPr lang="en-US" altLang="zh-CN" dirty="0"/>
          </a:p>
          <a:p>
            <a:pPr lvl="1"/>
            <a:r>
              <a:rPr lang="en-US" altLang="zh-CN" dirty="0"/>
              <a:t>Baseline</a:t>
            </a:r>
            <a:r>
              <a:rPr lang="zh-CN" altLang="en-US" dirty="0"/>
              <a:t>：</a:t>
            </a:r>
            <a:r>
              <a:rPr lang="en-US" altLang="zh-CN" dirty="0"/>
              <a:t>BERT-Gen HT</a:t>
            </a:r>
            <a:r>
              <a:rPr lang="zh-CN" altLang="en-US" dirty="0"/>
              <a:t>方案</a:t>
            </a:r>
            <a:endParaRPr lang="en-US" altLang="zh-CN" dirty="0"/>
          </a:p>
          <a:p>
            <a:r>
              <a:rPr lang="zh-CN" altLang="en-US" dirty="0"/>
              <a:t>方案：</a:t>
            </a:r>
            <a:endParaRPr lang="en-US" altLang="zh-CN" dirty="0"/>
          </a:p>
          <a:p>
            <a:pPr lvl="1"/>
            <a:r>
              <a:rPr lang="en-US" altLang="zh-CN" dirty="0"/>
              <a:t>NSP</a:t>
            </a:r>
            <a:r>
              <a:rPr lang="zh-CN" altLang="en-US" dirty="0"/>
              <a:t>任务：</a:t>
            </a:r>
            <a:r>
              <a:rPr lang="en-US" altLang="zh-CN" dirty="0"/>
              <a:t>Title + [SEP] + Content</a:t>
            </a:r>
            <a:endParaRPr lang="zh-CN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4EEA384-51D6-443D-A21E-4BB3C92D1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887448"/>
              </p:ext>
            </p:extLst>
          </p:nvPr>
        </p:nvGraphicFramePr>
        <p:xfrm>
          <a:off x="704113" y="3488605"/>
          <a:ext cx="378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09724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34904661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52073565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74748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合计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79879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训练集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10w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5w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15w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080114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20w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10w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30w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3634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30w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15w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45w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10598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40w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20w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60w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464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验证集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500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50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550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3699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测试集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2000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2200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816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D5E5DAD3-B4FA-4001-A292-667A4F63B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0938111"/>
                  </p:ext>
                </p:extLst>
              </p:nvPr>
            </p:nvGraphicFramePr>
            <p:xfrm>
              <a:off x="5497285" y="4403005"/>
              <a:ext cx="63720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723838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7404702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2556104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1053040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0643026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8759105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399303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2963820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6280313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98302243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248590676"/>
                        </a:ext>
                      </a:extLst>
                    </a:gridCol>
                  </a:tblGrid>
                  <a:tr h="180000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900" b="1" i="1" smtClean="0">
                                  <a:latin typeface="Cambria Math" panose="02040503050406030204" pitchFamily="18" charset="0"/>
                                </a:rPr>
                                <m:t>𝑫𝒂𝒕𝒂𝒔𝒆</m:t>
                              </m:r>
                              <m:sSub>
                                <m:sSubPr>
                                  <m:ctrlP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900" dirty="0"/>
                            <a:t> </a:t>
                          </a:r>
                          <a:endParaRPr lang="zh-CN" altLang="en-US" sz="90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04568362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699867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NSP(15W)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0.9536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0.9712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0.9780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0.9746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0.7634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0.7100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0.7358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2545458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NSP(30W)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0.9486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0.9715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0.9720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0.9718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0.7186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0.7150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0.7168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3247193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NSP(45W)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0.9436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0.9865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0.9510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0.9684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0.6397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0.8700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0.7373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45143528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NSP(60W)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0.9455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0.9733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0.9665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0.9699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0.6869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0.7350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0.7101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99484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D5E5DAD3-B4FA-4001-A292-667A4F63B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0938111"/>
                  </p:ext>
                </p:extLst>
              </p:nvPr>
            </p:nvGraphicFramePr>
            <p:xfrm>
              <a:off x="5497285" y="4403005"/>
              <a:ext cx="63720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723838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7404702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2556104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1053040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0643026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8759105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399303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2963820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76280313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98302243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248590676"/>
                        </a:ext>
                      </a:extLst>
                    </a:gridCol>
                  </a:tblGrid>
                  <a:tr h="2286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3" t="-2632" r="-323790" b="-50526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0456836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69986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NSP(15W)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0.9536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0.9712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0.9780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0.9746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0.7634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0.7100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0.7358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254545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NSP(30W)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0.9486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0.9715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0.9720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0.9718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0.7186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0.7150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0.7168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324719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NSP(45W)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0.9436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0.9865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0.9510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0.9684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0.6397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0.8700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0.7373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4514352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NSP(60W)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0.9455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0.9733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0.9665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0.9699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0.6869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0.7350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0.7101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994842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B0C35910-5F4F-4BB5-8E12-6A813613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195" y="62622"/>
            <a:ext cx="3432247" cy="2392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7">
                <a:extLst>
                  <a:ext uri="{FF2B5EF4-FFF2-40B4-BE49-F238E27FC236}">
                    <a16:creationId xmlns:a16="http://schemas.microsoft.com/office/drawing/2014/main" id="{B0A0D5C4-3FF4-4920-BF2E-CC1261CC1C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3239677"/>
                  </p:ext>
                </p:extLst>
              </p:nvPr>
            </p:nvGraphicFramePr>
            <p:xfrm>
              <a:off x="5497285" y="2614773"/>
              <a:ext cx="63720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723838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7404702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2556104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1053040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0643026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8759105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399303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2963820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22511631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3310668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37139389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900" b="1" i="1" smtClean="0">
                                  <a:latin typeface="Cambria Math" panose="02040503050406030204" pitchFamily="18" charset="0"/>
                                </a:rPr>
                                <m:t>𝑫𝒂𝒕𝒂𝒔𝒆</m:t>
                              </m:r>
                              <m:sSub>
                                <m:sSubPr>
                                  <m:ctrlP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9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900" dirty="0"/>
                            <a:t>(</a:t>
                          </a:r>
                          <a:r>
                            <a:rPr lang="zh-CN" altLang="en-US" sz="900" dirty="0"/>
                            <a:t>优良</a:t>
                          </a:r>
                          <a:r>
                            <a:rPr lang="en-US" altLang="zh-CN" sz="900" dirty="0"/>
                            <a:t>/</a:t>
                          </a:r>
                          <a:r>
                            <a:rPr lang="zh-CN" altLang="en-US" sz="900" dirty="0"/>
                            <a:t>中</a:t>
                          </a:r>
                          <a:r>
                            <a:rPr lang="en-US" altLang="zh-CN" sz="900" dirty="0"/>
                            <a:t>)</a:t>
                          </a:r>
                          <a:endParaRPr lang="zh-CN" altLang="en-US" sz="90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045683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329:78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6998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NSP(15W)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0.7936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0.8232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0.9483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0.8814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0.3929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0.1410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0.2075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25454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NSP(30W)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0.7813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0.8209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0.9331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0.8734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0.3333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0.1410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0.1982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32471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NSP(45W)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0.7887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0.8347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0.9210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0.8757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0.4091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0.2308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0.2951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0.8555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0.1803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0.5179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451435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NSP(60W)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0.7838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0.8163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0.9453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0.8761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0.3077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0.1026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0.1538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99484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7">
                <a:extLst>
                  <a:ext uri="{FF2B5EF4-FFF2-40B4-BE49-F238E27FC236}">
                    <a16:creationId xmlns:a16="http://schemas.microsoft.com/office/drawing/2014/main" id="{B0A0D5C4-3FF4-4920-BF2E-CC1261CC1C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3239677"/>
                  </p:ext>
                </p:extLst>
              </p:nvPr>
            </p:nvGraphicFramePr>
            <p:xfrm>
              <a:off x="5497285" y="2614773"/>
              <a:ext cx="63720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723838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7404702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2556104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1053040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0643026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8759105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399303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2963820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225116318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83310668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37139389"/>
                        </a:ext>
                      </a:extLst>
                    </a:gridCol>
                  </a:tblGrid>
                  <a:tr h="2286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3" t="-2632" r="-323790" b="-50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0456836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329:78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69986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NSP(15W)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0.7936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0.8232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0.9483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0.8814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0.3929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0.1410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0.2075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254545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NSP(30W)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0.7813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0.8209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0.9331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0.8734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0.3333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0.1410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0.1982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324719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NSP(45W)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0.7887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0.8347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0.9210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0.8757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0.4091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0.2308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0.2951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0.8555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0.1803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0.5179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4514352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BERT</a:t>
                          </a:r>
                          <a:r>
                            <a:rPr lang="zh-CN" altLang="en-US" sz="900" b="1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altLang="zh-CN" sz="900" b="1" dirty="0">
                              <a:solidFill>
                                <a:schemeClr val="tx1"/>
                              </a:solidFill>
                            </a:rPr>
                            <a:t>NSP(60W)</a:t>
                          </a:r>
                          <a:endParaRPr lang="zh-CN" altLang="en-US" sz="9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0.7838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0.8163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0.9453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0.8761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0.3077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0.1026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>
                              <a:solidFill>
                                <a:schemeClr val="tx1"/>
                              </a:solidFill>
                            </a:rPr>
                            <a:t>0.1538</a:t>
                          </a:r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99484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DBB773A-FD49-40A6-8222-4113D841CA44}"/>
                  </a:ext>
                </a:extLst>
              </p:cNvPr>
              <p:cNvSpPr txBox="1"/>
              <p:nvPr/>
            </p:nvSpPr>
            <p:spPr>
              <a:xfrm>
                <a:off x="319800" y="5907747"/>
                <a:ext cx="10636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结论：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𝐷𝑎𝑡𝑎𝑠𝑒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（构建）上指标优于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HT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方案，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𝐷𝑎𝑡𝑎𝑠𝑒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（人标）上指标下降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DBB773A-FD49-40A6-8222-4113D841C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00" y="5907747"/>
                <a:ext cx="10636200" cy="584775"/>
              </a:xfrm>
              <a:prstGeom prst="rect">
                <a:avLst/>
              </a:prstGeom>
              <a:blipFill>
                <a:blip r:embed="rId5"/>
                <a:stretch>
                  <a:fillRect l="-287" t="-3125" b="-11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12232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45426-9E03-4FD0-BC9B-10D58387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 Sum Reader(AS Reader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词向量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51F7C-1910-4512-8186-5C34C5E8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数据集</a:t>
            </a:r>
            <a:endParaRPr lang="en-US" altLang="zh-CN" dirty="0"/>
          </a:p>
          <a:p>
            <a:pPr lvl="1"/>
            <a:r>
              <a:rPr lang="zh-CN" altLang="en-US" dirty="0"/>
              <a:t>乐乐课堂，随机替换作文标题构成离题作文</a:t>
            </a:r>
            <a:endParaRPr lang="en-US" altLang="zh-CN" dirty="0"/>
          </a:p>
          <a:p>
            <a:pPr lvl="1"/>
            <a:r>
              <a:rPr lang="en-US" altLang="zh-CN" dirty="0"/>
              <a:t>Baseline</a:t>
            </a:r>
            <a:r>
              <a:rPr lang="zh-CN" altLang="en-US" dirty="0"/>
              <a:t>：</a:t>
            </a:r>
            <a:r>
              <a:rPr lang="en-US" altLang="zh-CN" dirty="0"/>
              <a:t>BERT-HT</a:t>
            </a:r>
            <a:r>
              <a:rPr lang="zh-CN" altLang="en-US" dirty="0"/>
              <a:t>和</a:t>
            </a:r>
            <a:r>
              <a:rPr lang="en-US" altLang="zh-CN" dirty="0"/>
              <a:t>BERT-NSP</a:t>
            </a:r>
          </a:p>
          <a:p>
            <a:r>
              <a:rPr lang="zh-CN" altLang="en-US" dirty="0"/>
              <a:t>方案：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71EA2A12-FA10-4E73-A765-D8F36DD830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001575"/>
                  </p:ext>
                </p:extLst>
              </p:nvPr>
            </p:nvGraphicFramePr>
            <p:xfrm>
              <a:off x="488016" y="4562140"/>
              <a:ext cx="4860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900" b="1" i="1" u="none" strike="noStrike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</a:rPr>
                                  <m:t>𝑫𝒂𝒕𝒂𝒔𝒆</m:t>
                                </m:r>
                                <m:sSub>
                                  <m:sSubPr>
                                    <m:ctrlPr>
                                      <a:rPr lang="en-US" altLang="zh-CN" sz="9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9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900" b="1" i="1" u="none" strike="noStrike" smtClean="0">
                                        <a:solidFill>
                                          <a:srgbClr val="FFFFF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9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0.9440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0.9552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0.5466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0.6040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0.9386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0.9632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0.9664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0.6738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0.6300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0.6512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Reader(45W)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0.9241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0.9617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0.9581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0.5976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0.9318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0.6078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0.7050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0.6528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71EA2A12-FA10-4E73-A765-D8F36DD830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001575"/>
                  </p:ext>
                </p:extLst>
              </p:nvPr>
            </p:nvGraphicFramePr>
            <p:xfrm>
              <a:off x="488016" y="4562140"/>
              <a:ext cx="4860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63" marR="4763" marT="4763" marB="0" anchor="ctr">
                        <a:blipFill>
                          <a:blip r:embed="rId2"/>
                          <a:stretch>
                            <a:fillRect l="-376" t="-2128" r="-201504" b="-5085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0.9440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0.9552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0.5466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0.6040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0.9386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0.9632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0.9664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0.6738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0.6300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0.6512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Reader(45W)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0.9241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0.9617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0.9581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0.5976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0.9318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0.6078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0.7050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0.6528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BAFF74-E3BA-45DF-B6AC-8399279887E5}"/>
                  </a:ext>
                </a:extLst>
              </p:cNvPr>
              <p:cNvSpPr txBox="1"/>
              <p:nvPr/>
            </p:nvSpPr>
            <p:spPr>
              <a:xfrm>
                <a:off x="6264450" y="5010641"/>
                <a:ext cx="50981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结论：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𝐷𝑎𝑡𝑎𝑠𝑒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（构建）上指标优于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HT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方案，指标比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BERT-NSP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方案低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𝐷𝑎𝑡𝑎𝑠𝑒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（人标）上指标下降，指标比</a:t>
                </a:r>
                <a:r>
                  <a:rPr lang="en-US" altLang="zh-CN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BERT-NSP</a:t>
                </a:r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方案高</a:t>
                </a:r>
                <a:endPara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9BAFF74-E3BA-45DF-B6AC-839927988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450" y="5010641"/>
                <a:ext cx="5098142" cy="1323439"/>
              </a:xfrm>
              <a:prstGeom prst="rect">
                <a:avLst/>
              </a:prstGeom>
              <a:blipFill>
                <a:blip r:embed="rId3"/>
                <a:stretch>
                  <a:fillRect l="-718" t="-1382" b="-5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6CC488C5-CEBB-4B9D-813E-ADBE9CCD5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450" y="153135"/>
            <a:ext cx="5502586" cy="2305661"/>
          </a:xfrm>
          <a:prstGeom prst="rect">
            <a:avLst/>
          </a:prstGeom>
        </p:spPr>
      </p:pic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E0F3F249-FE31-4C91-B1D4-2B043FA64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77195"/>
              </p:ext>
            </p:extLst>
          </p:nvPr>
        </p:nvGraphicFramePr>
        <p:xfrm>
          <a:off x="6264450" y="2834140"/>
          <a:ext cx="486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6993353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03001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71697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3735606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367441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313694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28215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07627186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测试集</a:t>
                      </a:r>
                      <a:r>
                        <a:rPr lang="en-US" altLang="zh-C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(1:1)</a:t>
                      </a:r>
                      <a:endParaRPr lang="zh-CN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优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2314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32750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 Reader(15W)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0.8125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0.7451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0.9500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0.8352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0.9310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0.7826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7803872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0.8025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0.7232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0.9800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0.8323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0.9690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0.7599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8576497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Reader(45W)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0.7875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0.7122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0.9650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0.8195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0.9457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0.7416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64531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Reader(60W)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0.8325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0.7628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0.9650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0.8521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0.9524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0.8069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826500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5">
                <a:extLst>
                  <a:ext uri="{FF2B5EF4-FFF2-40B4-BE49-F238E27FC236}">
                    <a16:creationId xmlns:a16="http://schemas.microsoft.com/office/drawing/2014/main" id="{7A5F8385-185F-4E3D-B07B-BA7740508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090784"/>
                  </p:ext>
                </p:extLst>
              </p:nvPr>
            </p:nvGraphicFramePr>
            <p:xfrm>
              <a:off x="488016" y="2458796"/>
              <a:ext cx="4860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pPr algn="ctr" rtl="0" fontAlgn="ctr"/>
                          <a14:m>
                            <m:oMath xmlns:m="http://schemas.openxmlformats.org/officeDocument/2006/math">
                              <m:r>
                                <a:rPr lang="en-US" altLang="zh-CN" sz="9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</a:rPr>
                                <m:t>𝑫𝒂𝒕𝒔𝒔𝒆</m:t>
                              </m:r>
                              <m:sSub>
                                <m:sSubPr>
                                  <m:ctrlPr>
                                    <a:rPr lang="en-US" altLang="zh-CN" sz="900" b="1" i="1" u="none" strike="noStrike" smtClean="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 u="none" strike="noStrike" smtClean="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900" b="1" i="1" u="none" strike="noStrike" smtClean="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(</a:t>
                          </a:r>
                          <a:r>
                            <a:rPr lang="zh-CN" altLang="en-US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优良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/</a:t>
                          </a:r>
                          <a:r>
                            <a:rPr lang="zh-CN" altLang="en-US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)</a:t>
                          </a:r>
                          <a:endParaRPr lang="zh-CN" altLang="en-US" sz="9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0.8034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0.8430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0.9301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0.8844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0.4773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0.2692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0.3443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0.8034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0.8285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0.9544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0.8870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0.4643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0.1667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0.2453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Reader(45W)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0.7813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0.8226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0.9301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0.8730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0.3429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0.1538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0.2124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0.8010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0.8316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0.9453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0.8848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0.4545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0.1923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0.2703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5">
                <a:extLst>
                  <a:ext uri="{FF2B5EF4-FFF2-40B4-BE49-F238E27FC236}">
                    <a16:creationId xmlns:a16="http://schemas.microsoft.com/office/drawing/2014/main" id="{7A5F8385-185F-4E3D-B07B-BA7740508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090784"/>
                  </p:ext>
                </p:extLst>
              </p:nvPr>
            </p:nvGraphicFramePr>
            <p:xfrm>
              <a:off x="488016" y="2458796"/>
              <a:ext cx="4860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63" marR="4763" marT="4763" marB="0" anchor="ctr">
                        <a:blipFill>
                          <a:blip r:embed="rId5"/>
                          <a:stretch>
                            <a:fillRect l="-376" t="-2128" r="-201504" b="-5085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0.8034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0.8430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0.9301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0.8844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0.4773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0.2692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0.3443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0.8034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0.8285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0.9544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0.8870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0.4643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0.1667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0.2453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Reader(45W)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0.7813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0.8226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0.9301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0.8730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0.3429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0.1538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0.2124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0.8010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0.8316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0.9453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0.8848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0.4545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0.1923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0.2703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536003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5594487-52FE-4CA6-A5FB-8BF588AB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BERT-Gen HT(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三档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1509D-759B-4325-BE57-F49C5B72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E048-3FBB-4D0D-A841-C8A944B53E47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22195-7517-4C66-9550-C5E18A74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19A42D-6458-40C7-A728-B8DC63240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参考作文</a:t>
            </a:r>
            <a:endParaRPr lang="en-US" altLang="zh-CN" dirty="0"/>
          </a:p>
          <a:p>
            <a:pPr lvl="1"/>
            <a:r>
              <a:rPr lang="zh-CN" altLang="en-US" dirty="0"/>
              <a:t>数据来源：乐乐课堂</a:t>
            </a:r>
            <a:endParaRPr lang="en-US" altLang="zh-CN" dirty="0"/>
          </a:p>
          <a:p>
            <a:pPr lvl="1"/>
            <a:r>
              <a:rPr lang="zh-CN" altLang="en-US" dirty="0"/>
              <a:t>数据量：</a:t>
            </a:r>
            <a:r>
              <a:rPr lang="en-US" altLang="zh-CN" dirty="0"/>
              <a:t>50W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1">
                <a:extLst>
                  <a:ext uri="{FF2B5EF4-FFF2-40B4-BE49-F238E27FC236}">
                    <a16:creationId xmlns:a16="http://schemas.microsoft.com/office/drawing/2014/main" id="{2080557A-0E20-47F3-BD8A-895045C9B6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211014"/>
                  </p:ext>
                </p:extLst>
              </p:nvPr>
            </p:nvGraphicFramePr>
            <p:xfrm>
              <a:off x="627201" y="1676472"/>
              <a:ext cx="11276133" cy="26565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6384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721572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1100182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514827036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1806854799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4150396025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74609554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3356227147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311261983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5744835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791071069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14906751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64736916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768642609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900" b="1" i="1" smtClean="0">
                                    <a:latin typeface="Cambria Math" panose="02040503050406030204" pitchFamily="18" charset="0"/>
                                  </a:rPr>
                                  <m:t>𝑫𝒂𝒕𝒂𝒔𝒆</m:t>
                                </m:r>
                                <m:sSub>
                                  <m:sSubPr>
                                    <m:ctrlP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900" b="1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阈值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良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-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跨二档率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相关系数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跨二档率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2160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1-</a:t>
                          </a:r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2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0.6855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0.6265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0.0172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9305"/>
                      </a:ext>
                    </a:extLst>
                  </a:tr>
                  <a:tr h="1800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 / 0.85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0.4767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0.3900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0.1302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0.2546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0.4545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0.1818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0.5547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0.7277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0.6296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0.3236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0.2362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0.2727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0.3469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0.2179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0.2677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160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Topk=50 / 0.50 / 0.60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0.5135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0.4241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0.2378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0.1966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0.5992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0.7624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0.6710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0.2913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0.3442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0.2903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0.2308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0.2571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164386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Topk=50 / 0.50 / 0.60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0.4962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0.4068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0.2318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0.1990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0.5869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0.7525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0.6594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0.3735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0.2441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0.2952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0.2923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0.2657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Topk=15 / 0.35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0.4717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0.4266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0.0860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0.2666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0.3661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0.3196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0.1474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0.7021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0.3707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0.5984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0.4578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0.2179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0.2446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 / 0.35 / 0.50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0.4840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0.4241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0.1007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0.3931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0.3398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0.1671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0.3562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0.4094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0.3810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0.3051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0.2308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0.2628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Topk=50 / 0.60 / 0.80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0.4939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0.4571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0.1081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0.3439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0.3882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0.2236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0.6685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0.6089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0.6373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0.3577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0.3465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0.3520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0.4359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0.3820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Topk=100 / 0.60 / 0.80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0.5037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0.4388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0.0934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0.3833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0.3311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0.1744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0.6635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0.6832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0.6732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0.3566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0.3622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0.3594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0.2692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0.2838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1">
                <a:extLst>
                  <a:ext uri="{FF2B5EF4-FFF2-40B4-BE49-F238E27FC236}">
                    <a16:creationId xmlns:a16="http://schemas.microsoft.com/office/drawing/2014/main" id="{2080557A-0E20-47F3-BD8A-895045C9B6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211014"/>
                  </p:ext>
                </p:extLst>
              </p:nvPr>
            </p:nvGraphicFramePr>
            <p:xfrm>
              <a:off x="627201" y="1676472"/>
              <a:ext cx="11276133" cy="26565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6384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721572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1100182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514827036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1806854799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4150396025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74609554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3356227147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311261983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5744835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791071069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14906751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64736916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768642609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491981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</a:tblGrid>
                  <a:tr h="22860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2" t="-5263" r="-516279" b="-107894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阈值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良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365760">
                    <a:tc gridSpan="3"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-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跨二档率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相关系数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Marco-F1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跨二档率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1-</a:t>
                          </a:r>
                          <a:r>
                            <a:rPr lang="zh-CN" altLang="en-US" sz="900" b="1" dirty="0"/>
                            <a:t>人</a:t>
                          </a:r>
                          <a:r>
                            <a:rPr lang="en-US" altLang="zh-CN" sz="900" b="1" dirty="0"/>
                            <a:t>2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0.6855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0.6265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0.0172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0.7023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zh-CN" altLang="en-US" sz="9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1379305"/>
                      </a:ext>
                    </a:extLst>
                  </a:tr>
                  <a:tr h="36576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 / 0.85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0.4767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0.3900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0.1302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0.2546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0.4545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0.3753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US" altLang="zh-CN" sz="9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0.1818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0.5547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0.7277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0.6296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0.3236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0.2362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0.2727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0.3469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0.2179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0.2677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286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Topk=50 / 0.50 / 0.60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0.5135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0.4241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0.2378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0.1966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0.5992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0.7624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0.6710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0.4205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0.2913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0.3442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0.2903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0.2308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0.2571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Topk=50 / 0.50 / 0.60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0.4962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0.4068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0.2318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0.1990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0.5869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0.7525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0.6594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0.3735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0.2441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0.2952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0.2923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0.2657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Topk=15 / 0.35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0.4717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0.4266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0.0860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0.2666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0.3661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0.3196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0.1474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0.7021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0.3707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0.5984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0.4578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0.2787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0.2179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0.2446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 / 0.35 / 0.50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0.4840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0.4241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0.1007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0.3931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0.3398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0.1671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0.6287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0.3562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0.4094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0.3810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0.3051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0.2308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0.2628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Topk=50 / 0.60 / 0.80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0.4939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0.4571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0.1081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0.3439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0.3882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0.3524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0.2236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0.6685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0.6089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0.6373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0.3577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0.3465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0.3520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0.3400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0.4359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0.3820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7908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Topk=100 / 0.60 / 0.80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0.5037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0.4388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0.0934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0.3336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0.3833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0.3311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0.1744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0.6635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0.6832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0.6732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0.3566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0.3622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0.3594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0.3000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0.2692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0.2838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01BC01DC-B1F7-40C6-A794-AF24DEE73C6C}"/>
              </a:ext>
            </a:extLst>
          </p:cNvPr>
          <p:cNvSpPr txBox="1"/>
          <p:nvPr/>
        </p:nvSpPr>
        <p:spPr>
          <a:xfrm>
            <a:off x="5977880" y="4652647"/>
            <a:ext cx="4706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生成模型优于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结果优于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Last1avg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随参考作文数增加，指标提升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Topk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相似度最大值时指标最优</a:t>
            </a: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842705B4-3A8E-4A6B-B291-EFA388DBBC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9621147"/>
              </p:ext>
            </p:extLst>
          </p:nvPr>
        </p:nvGraphicFramePr>
        <p:xfrm>
          <a:off x="627201" y="4305397"/>
          <a:ext cx="3962384" cy="2356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499193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9798E-7CBA-439A-B785-D9240084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DFD79A3-D572-436A-9DFC-831BA5A83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227238"/>
              </p:ext>
            </p:extLst>
          </p:nvPr>
        </p:nvGraphicFramePr>
        <p:xfrm>
          <a:off x="282000" y="1674103"/>
          <a:ext cx="11628000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00">
                  <a:extLst>
                    <a:ext uri="{9D8B030D-6E8A-4147-A177-3AD203B41FA5}">
                      <a16:colId xmlns:a16="http://schemas.microsoft.com/office/drawing/2014/main" val="199905311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260586491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171396752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69394609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3225369776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4149980745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76054777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24575497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810779969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370042825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891641529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24658724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973057697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22102985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18345177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70673610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359250694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719756622"/>
                    </a:ext>
                  </a:extLst>
                </a:gridCol>
              </a:tblGrid>
              <a:tr h="370840">
                <a:tc gridSpan="18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DataSet1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94865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阈值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Marco-F1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相关系数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随机</a:t>
                      </a:r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随机</a:t>
                      </a:r>
                      <a:r>
                        <a:rPr lang="en-US" altLang="zh-CN" sz="900" b="1" dirty="0"/>
                        <a:t>Marco-F1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77859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标题</a:t>
                      </a:r>
                      <a:r>
                        <a:rPr lang="en-US" altLang="zh-CN" sz="900" b="1" dirty="0"/>
                        <a:t>-</a:t>
                      </a:r>
                      <a:r>
                        <a:rPr lang="zh-CN" altLang="en-US" sz="900" b="1" dirty="0"/>
                        <a:t>正文表示计算相似度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TFIDF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 / 0.15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0.4668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0.4346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0.1474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0.3354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0.3980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0.2893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0.6807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0.5594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0.6141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0.3404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0.2520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0.2896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0.3601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0.5769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0.4000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2458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Doc2vec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0.30 / 0.40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0.4128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0.3823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0.1007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0.1795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0.3808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0.2765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0.5723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0.4505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0.5042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0.3102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0.4567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0.3694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0.3115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0.2436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0.2734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9111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Skip-gram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0.50 / 0.75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0.4300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0.3698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0.1007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0.1264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0.4103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0.2653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0.5625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0.4901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0.5238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0.3367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0.5197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0.4087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0.2857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0.1282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0.1770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93667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3ED052C-D99B-4805-AB0F-25920068C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920929"/>
              </p:ext>
            </p:extLst>
          </p:nvPr>
        </p:nvGraphicFramePr>
        <p:xfrm>
          <a:off x="282000" y="4053164"/>
          <a:ext cx="11628000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00">
                  <a:extLst>
                    <a:ext uri="{9D8B030D-6E8A-4147-A177-3AD203B41FA5}">
                      <a16:colId xmlns:a16="http://schemas.microsoft.com/office/drawing/2014/main" val="199905311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260586491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171396752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69394609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3225369776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77285534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76054777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24575497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810779969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370042825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891641529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24658724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973057697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221029858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18345177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170673610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3592506944"/>
                    </a:ext>
                  </a:extLst>
                </a:gridCol>
                <a:gridCol w="646000">
                  <a:extLst>
                    <a:ext uri="{9D8B030D-6E8A-4147-A177-3AD203B41FA5}">
                      <a16:colId xmlns:a16="http://schemas.microsoft.com/office/drawing/2014/main" val="2719756622"/>
                    </a:ext>
                  </a:extLst>
                </a:gridCol>
              </a:tblGrid>
              <a:tr h="370840">
                <a:tc gridSpan="18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DataSet2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94865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阈值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Marco-F1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相关系数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随机</a:t>
                      </a:r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随机</a:t>
                      </a:r>
                      <a:r>
                        <a:rPr lang="en-US" altLang="zh-CN" sz="900" b="1" dirty="0"/>
                        <a:t>Marco-F1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不离题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部分离题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完全离题</a:t>
                      </a:r>
                      <a:r>
                        <a:rPr lang="en-US" altLang="zh-CN" sz="900" b="1" dirty="0"/>
                        <a:t>F1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77859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/>
                        <a:t>标题</a:t>
                      </a:r>
                      <a:r>
                        <a:rPr lang="en-US" altLang="zh-CN" sz="900" b="1" dirty="0"/>
                        <a:t>-</a:t>
                      </a:r>
                      <a:r>
                        <a:rPr lang="zh-CN" altLang="en-US" sz="900" b="1" dirty="0"/>
                        <a:t>正文表示计算相似度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TFIDF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0.05 / 0.15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0.5675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0.4293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0.1883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0.4094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0.4675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0.3092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0.9358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0.5535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0.6956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0.1109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0.2750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0.1580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0.2774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1.0000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0.4343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2458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Doc2vec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0.25 / 0.35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0.5983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0.3897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0.0471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0.2983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0.5529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0.3187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0.9015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0.6590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0.7614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0.0926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0.3700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0.1481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0.3165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0.2200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0.2596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9111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Skip-gram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0.50 / 0.60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0.7033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0.3628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0.1038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0.1345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0.6863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0.3344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0.8520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0.8175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0.8344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0.0660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0.1000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0.0795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0.1854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0.1650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0.1746</a:t>
                      </a:r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93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92926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45426-9E03-4FD0-BC9B-10D58387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Attention Sum Reader(AS Reader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字向量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51F7C-1910-4512-8186-5C34C5E8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数据集</a:t>
            </a:r>
            <a:endParaRPr lang="en-US" altLang="zh-CN" dirty="0"/>
          </a:p>
          <a:p>
            <a:pPr lvl="1"/>
            <a:r>
              <a:rPr lang="zh-CN" altLang="en-US" dirty="0"/>
              <a:t>乐乐课堂，随机替换作文标题构成离题作文</a:t>
            </a:r>
            <a:endParaRPr lang="en-US" altLang="zh-CN" dirty="0"/>
          </a:p>
          <a:p>
            <a:pPr lvl="1"/>
            <a:r>
              <a:rPr lang="en-US" altLang="zh-CN" dirty="0"/>
              <a:t>Baseline</a:t>
            </a:r>
            <a:r>
              <a:rPr lang="zh-CN" altLang="en-US" dirty="0"/>
              <a:t>：</a:t>
            </a:r>
            <a:r>
              <a:rPr lang="en-US" altLang="zh-CN" dirty="0"/>
              <a:t>BERT-HT</a:t>
            </a:r>
            <a:r>
              <a:rPr lang="zh-CN" altLang="en-US" dirty="0"/>
              <a:t>和</a:t>
            </a:r>
            <a:r>
              <a:rPr lang="en-US" altLang="zh-CN" dirty="0"/>
              <a:t>BERT-NSP</a:t>
            </a:r>
          </a:p>
          <a:p>
            <a:r>
              <a:rPr lang="zh-CN" altLang="en-US" dirty="0"/>
              <a:t>方案：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1EA2A12-FA10-4E73-A765-D8F36DD83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77425"/>
              </p:ext>
            </p:extLst>
          </p:nvPr>
        </p:nvGraphicFramePr>
        <p:xfrm>
          <a:off x="886119" y="2909889"/>
          <a:ext cx="4644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993353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03001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71697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3735606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367441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313694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28215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07627186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测试集</a:t>
                      </a:r>
                      <a:r>
                        <a:rPr lang="en-US" altLang="zh-C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(10:1)</a:t>
                      </a:r>
                      <a:endParaRPr lang="zh-CN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优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2314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32750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 Reader(15W)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0.8286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0.9432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0.8635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0.9016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0.2602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0.3374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7803872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0.8545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0.9312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0.9070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0.9189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0.2619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0.2920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8576497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Reader(60W)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0.7877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0.9533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0.8060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0.8735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0.2377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0.3413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64531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Reader(75W)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0.8314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0.9353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0.8750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0.9042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0.2401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0.2987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8265006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9BAFF74-E3BA-45DF-B6AC-8399279887E5}"/>
              </a:ext>
            </a:extLst>
          </p:cNvPr>
          <p:cNvSpPr txBox="1"/>
          <p:nvPr/>
        </p:nvSpPr>
        <p:spPr>
          <a:xfrm>
            <a:off x="582832" y="5537846"/>
            <a:ext cx="1077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分类结果最优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C488C5-CEBB-4B9D-813E-ADBE9CCD5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919" y="166493"/>
            <a:ext cx="5502586" cy="2305661"/>
          </a:xfrm>
          <a:prstGeom prst="rect">
            <a:avLst/>
          </a:prstGeom>
        </p:spPr>
      </p:pic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E0F3F249-FE31-4C91-B1D4-2B043FA64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637595"/>
              </p:ext>
            </p:extLst>
          </p:nvPr>
        </p:nvGraphicFramePr>
        <p:xfrm>
          <a:off x="6458919" y="2909889"/>
          <a:ext cx="4644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6993353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03001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71697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3735606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367441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313694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28215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07627186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测试集</a:t>
                      </a:r>
                      <a:r>
                        <a:rPr lang="en-US" altLang="zh-C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(1:1)</a:t>
                      </a:r>
                      <a:endParaRPr lang="zh-CN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优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2314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32750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 Reader(15W)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0.6675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0.6218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0.8550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0.7200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0.7680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0.5908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7803872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0.5692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0.9050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0.6988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0.7683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0.4468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8576497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Reader(60W)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0.7025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0.6667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0.8100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0.7314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0.7580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0.5950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0.6667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64531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Reader(75W)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0.6475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0.6028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0.8650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0.7105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0.7611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0.4300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0.5495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826500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5">
                <a:extLst>
                  <a:ext uri="{FF2B5EF4-FFF2-40B4-BE49-F238E27FC236}">
                    <a16:creationId xmlns:a16="http://schemas.microsoft.com/office/drawing/2014/main" id="{7A5F8385-185F-4E3D-B07B-BA7740508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7762974"/>
                  </p:ext>
                </p:extLst>
              </p:nvPr>
            </p:nvGraphicFramePr>
            <p:xfrm>
              <a:off x="6458919" y="4807877"/>
              <a:ext cx="4644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pPr algn="ctr" rtl="0" fontAlgn="ctr"/>
                          <a14:m>
                            <m:oMath xmlns:m="http://schemas.openxmlformats.org/officeDocument/2006/math">
                              <m:r>
                                <a:rPr lang="en-US" altLang="zh-CN" sz="9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</a:rPr>
                                <m:t>𝑫𝒂𝒕𝒂𝒔𝒆</m:t>
                              </m:r>
                              <m:sSub>
                                <m:sSubPr>
                                  <m:ctrlPr>
                                    <a:rPr lang="en-US" altLang="zh-CN" sz="900" b="1" i="1" u="none" strike="noStrike" smtClean="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b="1" i="1" u="none" strike="noStrike" smtClean="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sz="900" b="1" i="1" u="none" strike="noStrike" smtClean="0">
                                      <a:solidFill>
                                        <a:srgbClr val="FFFF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(</a:t>
                          </a:r>
                          <a:r>
                            <a:rPr lang="zh-CN" altLang="en-US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/</a:t>
                          </a:r>
                          <a:r>
                            <a:rPr lang="zh-CN" altLang="en-US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良中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)</a:t>
                          </a:r>
                          <a:endParaRPr lang="zh-CN" altLang="en-US" sz="9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0.5209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0.5113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0.6184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0.5510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0.2634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0.3564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0.5135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0.5056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0.9010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0.6477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0.1317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0.2143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0.5455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0.5318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0.7030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0.5714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0.3902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0.4638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Reader(75W)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0.5332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0.5175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0.8762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0.6507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0.6154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0.1951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0.2963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5">
                <a:extLst>
                  <a:ext uri="{FF2B5EF4-FFF2-40B4-BE49-F238E27FC236}">
                    <a16:creationId xmlns:a16="http://schemas.microsoft.com/office/drawing/2014/main" id="{7A5F8385-185F-4E3D-B07B-BA77405089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7762974"/>
                  </p:ext>
                </p:extLst>
              </p:nvPr>
            </p:nvGraphicFramePr>
            <p:xfrm>
              <a:off x="6458919" y="4807877"/>
              <a:ext cx="4644000" cy="172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63" marR="4763" marT="4763" marB="0" anchor="ctr">
                        <a:blipFill>
                          <a:blip r:embed="rId3"/>
                          <a:stretch>
                            <a:fillRect l="-433" t="-2083" r="-232035" b="-49791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0.5209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0.5113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0.6184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0.5510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0.2634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0.3564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0.5135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0.5056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0.9010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0.6477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0.5745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0.1317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0.2143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0.5455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0.5318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0.7030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0.5714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0.3902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0.4638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Reader(75W)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0.5332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0.5175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0.8762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0.6507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0.6154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0.1951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0.2963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842098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9FCD654-3CC3-41A4-A59A-9A38E2406F9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𝐃𝐚𝐭𝐚𝐬𝐞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9FCD654-3CC3-41A4-A59A-9A38E2406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38502-D7F0-43BB-9B8E-327FAA5C2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</a:t>
            </a:r>
            <a:r>
              <a:rPr lang="en-US" altLang="zh-CN" dirty="0"/>
              <a:t>/</a:t>
            </a:r>
            <a:r>
              <a:rPr lang="zh-CN" altLang="en-US" dirty="0"/>
              <a:t>良中划分（</a:t>
            </a:r>
            <a:r>
              <a:rPr lang="en-US" altLang="zh-CN" dirty="0"/>
              <a:t>202:205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4" name="表格 11">
            <a:extLst>
              <a:ext uri="{FF2B5EF4-FFF2-40B4-BE49-F238E27FC236}">
                <a16:creationId xmlns:a16="http://schemas.microsoft.com/office/drawing/2014/main" id="{00A99136-AD41-44ED-ADDB-212D720BE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967599"/>
              </p:ext>
            </p:extLst>
          </p:nvPr>
        </p:nvGraphicFramePr>
        <p:xfrm>
          <a:off x="2140973" y="1280160"/>
          <a:ext cx="7910054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263">
                  <a:extLst>
                    <a:ext uri="{9D8B030D-6E8A-4147-A177-3AD203B41FA5}">
                      <a16:colId xmlns:a16="http://schemas.microsoft.com/office/drawing/2014/main" val="2693444544"/>
                    </a:ext>
                  </a:extLst>
                </a:gridCol>
                <a:gridCol w="811184">
                  <a:extLst>
                    <a:ext uri="{9D8B030D-6E8A-4147-A177-3AD203B41FA5}">
                      <a16:colId xmlns:a16="http://schemas.microsoft.com/office/drawing/2014/main" val="1958537520"/>
                    </a:ext>
                  </a:extLst>
                </a:gridCol>
                <a:gridCol w="648949">
                  <a:extLst>
                    <a:ext uri="{9D8B030D-6E8A-4147-A177-3AD203B41FA5}">
                      <a16:colId xmlns:a16="http://schemas.microsoft.com/office/drawing/2014/main" val="1958776690"/>
                    </a:ext>
                  </a:extLst>
                </a:gridCol>
                <a:gridCol w="1135658">
                  <a:extLst>
                    <a:ext uri="{9D8B030D-6E8A-4147-A177-3AD203B41FA5}">
                      <a16:colId xmlns:a16="http://schemas.microsoft.com/office/drawing/2014/main" val="326232986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607452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799637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596039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057676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94483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639626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252862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594053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2822927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BERT-Gen HT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阈值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模型预测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模型预测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随机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10906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/>
                      <a:endParaRPr lang="en-US" altLang="zh-CN" sz="1200" b="1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b="1" dirty="0"/>
                    </a:p>
                  </a:txBody>
                  <a:tcPr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优</a:t>
                      </a:r>
                      <a:r>
                        <a:rPr lang="en-US" altLang="zh-CN" sz="900" b="1" dirty="0"/>
                        <a:t>-P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优</a:t>
                      </a:r>
                      <a:r>
                        <a:rPr lang="en-US" altLang="zh-CN" sz="900" b="1" dirty="0"/>
                        <a:t>-R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优</a:t>
                      </a:r>
                      <a:r>
                        <a:rPr lang="en-US" altLang="zh-CN" sz="900" b="1" dirty="0"/>
                        <a:t>-F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中</a:t>
                      </a:r>
                      <a:r>
                        <a:rPr lang="en-US" altLang="zh-CN" sz="900" b="1" dirty="0"/>
                        <a:t>-P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中</a:t>
                      </a:r>
                      <a:r>
                        <a:rPr lang="en-US" altLang="zh-CN" sz="900" b="1" dirty="0"/>
                        <a:t>-R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中</a:t>
                      </a:r>
                      <a:r>
                        <a:rPr lang="en-US" altLang="zh-CN" sz="900" b="1" dirty="0"/>
                        <a:t>-F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优</a:t>
                      </a:r>
                      <a:r>
                        <a:rPr lang="en-US" altLang="zh-CN" sz="900" b="1" dirty="0"/>
                        <a:t>-F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/>
                        <a:t>中</a:t>
                      </a:r>
                      <a:r>
                        <a:rPr lang="en-US" altLang="zh-CN" sz="900" b="1" dirty="0"/>
                        <a:t>-F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165806"/>
                  </a:ext>
                </a:extLst>
              </a:tr>
              <a:tr h="180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Baseline</a:t>
                      </a:r>
                      <a:endParaRPr lang="zh-CN" altLang="en-US" sz="9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0.85</a:t>
                      </a:r>
                      <a:endParaRPr lang="zh-CN" altLang="en-US" sz="900" dirty="0"/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0.5749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0.7277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0.4323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7041694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BERT-Gen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Topk</a:t>
                      </a:r>
                      <a:r>
                        <a:rPr lang="zh-CN" altLang="en-US" sz="900" b="1" dirty="0"/>
                        <a:t>标题表示取平均</a:t>
                      </a:r>
                      <a:endParaRPr lang="en-US" altLang="zh-CN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CLS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10 / 0.70</a:t>
                      </a:r>
                      <a:endParaRPr lang="zh-CN" altLang="en-US" sz="900" dirty="0"/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0.5928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0.7463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0.4543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653255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 altLang="zh-C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Last1avg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/ 0.70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0.6437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0.5938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9786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Topk</a:t>
                      </a:r>
                      <a:r>
                        <a:rPr lang="zh-CN" altLang="en-US" sz="900" b="1" dirty="0"/>
                        <a:t>相似度取平均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CLS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/ 0.65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0.7579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0.8878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0.5996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66192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Last1avg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 / 0.70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0.4145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0.9220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161106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Topk</a:t>
                      </a:r>
                      <a:r>
                        <a:rPr lang="zh-CN" altLang="en-US" sz="900" b="1" dirty="0"/>
                        <a:t>相似度取最大值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CLS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/ 0.70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0.6413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0.6245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0.7220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0.4785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785518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Last1avg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5 / 0.70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0.4715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0340024"/>
                  </a:ext>
                </a:extLst>
              </a:tr>
            </a:tbl>
          </a:graphicData>
        </a:graphic>
      </p:graphicFrame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908D5106-9D56-4705-B3FD-1F209262B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122267"/>
              </p:ext>
            </p:extLst>
          </p:nvPr>
        </p:nvGraphicFramePr>
        <p:xfrm>
          <a:off x="1020143" y="4195440"/>
          <a:ext cx="486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7238383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740470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2556104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105304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0643026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8759105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39930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96382096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/>
                        <a:t>BERT NSP</a:t>
                      </a:r>
                      <a:endParaRPr lang="zh-CN" altLang="en-US" sz="9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5683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Acc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F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P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R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F</a:t>
                      </a:r>
                      <a:endParaRPr lang="zh-CN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69986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</a:t>
                      </a:r>
                      <a:r>
                        <a:rPr lang="zh-CN" altLang="en-US" sz="900" b="1" dirty="0"/>
                        <a:t> </a:t>
                      </a:r>
                      <a:r>
                        <a:rPr lang="en-US" altLang="zh-CN" sz="900" b="1" dirty="0"/>
                        <a:t>NSP(15W)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0.5258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0.5119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0.9604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0.6678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0.7143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0.0976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</a:rPr>
                        <a:t>0.1717</a:t>
                      </a:r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54545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</a:t>
                      </a:r>
                      <a:r>
                        <a:rPr lang="zh-CN" altLang="en-US" sz="900" b="1" dirty="0"/>
                        <a:t> </a:t>
                      </a:r>
                      <a:r>
                        <a:rPr lang="en-US" altLang="zh-CN" sz="900" b="1" dirty="0"/>
                        <a:t>NSP(30W)</a:t>
                      </a:r>
                      <a:endParaRPr lang="zh-CN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0.5233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0.5107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0.9455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0.6632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0.6667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0.1073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0.1849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2471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</a:t>
                      </a:r>
                      <a:r>
                        <a:rPr lang="zh-CN" altLang="en-US" sz="900" b="1" dirty="0"/>
                        <a:t> </a:t>
                      </a:r>
                      <a:r>
                        <a:rPr lang="en-US" altLang="zh-CN" sz="900" b="1" dirty="0"/>
                        <a:t>NSP</a:t>
                      </a:r>
                      <a:r>
                        <a:rPr lang="en-US" altLang="zh-CN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(45W)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0.5553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0.5289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0.9505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0.6796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0.7727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0.1659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0.2731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1435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/>
                        <a:t>BERT</a:t>
                      </a:r>
                      <a:r>
                        <a:rPr lang="zh-CN" altLang="en-US" sz="900" b="1" dirty="0"/>
                        <a:t> </a:t>
                      </a:r>
                      <a:r>
                        <a:rPr lang="en-US" altLang="zh-CN" sz="900" b="1" dirty="0"/>
                        <a:t>NSP</a:t>
                      </a:r>
                      <a:r>
                        <a:rPr lang="en-US" altLang="zh-CN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(60W)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94842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CE25E5C-1514-4E4E-B242-60490D69C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787977"/>
              </p:ext>
            </p:extLst>
          </p:nvPr>
        </p:nvGraphicFramePr>
        <p:xfrm>
          <a:off x="6366143" y="4195440"/>
          <a:ext cx="486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6993353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0300145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71697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3735606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367441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313694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28215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07627186"/>
                    </a:ext>
                  </a:extLst>
                </a:gridCol>
              </a:tblGrid>
              <a:tr h="2304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AS Reader</a:t>
                      </a:r>
                      <a:endParaRPr lang="zh-CN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763" marR="4763" marT="4763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优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23149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327505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AS Reader(15W)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0.5700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0.5370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0.9703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0.6914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0.8571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0.2915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7803872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0.5455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0.5225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0.9752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0.6805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0.8333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0.2128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8576497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Reader(45W)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0.5455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0.5229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0.9604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0.6771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0.7778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0.2324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645314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AS Reader(60W)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0.5504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0.5255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0.9703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0.6817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0.8235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0.2343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82650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42541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E2EC9-E072-4357-8DC2-61C9064D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Argument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14558-DD4D-4D19-A8D6-667A145C9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金字塔池化</a:t>
            </a:r>
            <a:endParaRPr lang="en-US" altLang="zh-CN" dirty="0"/>
          </a:p>
          <a:p>
            <a:pPr lvl="1"/>
            <a:r>
              <a:rPr lang="en-US" altLang="zh-CN" dirty="0"/>
              <a:t>Spatial Pyramid Pooling in Deep Convolutional Networks for Visual Recognition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3A8FB3-9B36-4B4C-A095-C566E4D4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52" y="1804282"/>
            <a:ext cx="5254695" cy="349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8169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5594487-52FE-4CA6-A5FB-8BF588AB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BERT-Gen HT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（旧指标）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1509D-759B-4325-BE57-F49C5B72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E048-3FBB-4D0D-A841-C8A944B53E47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22195-7517-4C66-9550-C5E18A74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17A5456-0A8F-4E41-80D4-C93D4C6E3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参考作文</a:t>
            </a:r>
            <a:endParaRPr lang="en-US" altLang="zh-CN" dirty="0"/>
          </a:p>
          <a:p>
            <a:pPr lvl="1"/>
            <a:r>
              <a:rPr lang="zh-CN" altLang="en-US" dirty="0"/>
              <a:t>数据来源：乐乐课堂</a:t>
            </a:r>
            <a:endParaRPr lang="en-US" altLang="zh-CN" dirty="0"/>
          </a:p>
          <a:p>
            <a:pPr lvl="1"/>
            <a:r>
              <a:rPr lang="zh-CN" altLang="en-US" dirty="0"/>
              <a:t>数据量：</a:t>
            </a:r>
            <a:r>
              <a:rPr lang="en-US" altLang="zh-CN" dirty="0"/>
              <a:t>50W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A1E71A7A-2952-463F-80F0-8318A197A10C}"/>
              </a:ext>
            </a:extLst>
          </p:cNvPr>
          <p:cNvSpPr txBox="1">
            <a:spLocks/>
          </p:cNvSpPr>
          <p:nvPr/>
        </p:nvSpPr>
        <p:spPr>
          <a:xfrm>
            <a:off x="990600" y="1543050"/>
            <a:ext cx="10515600" cy="4786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1">
                <a:extLst>
                  <a:ext uri="{FF2B5EF4-FFF2-40B4-BE49-F238E27FC236}">
                    <a16:creationId xmlns:a16="http://schemas.microsoft.com/office/drawing/2014/main" id="{871212D9-35A5-40D8-88C1-888BFC771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303309"/>
                  </p:ext>
                </p:extLst>
              </p:nvPr>
            </p:nvGraphicFramePr>
            <p:xfrm>
              <a:off x="660400" y="1676472"/>
              <a:ext cx="8450053" cy="2057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4263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811184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48948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1135658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6074528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9050649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5940539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028229279"/>
                        </a:ext>
                      </a:extLst>
                    </a:gridCol>
                  </a:tblGrid>
                  <a:tr h="0">
                    <a:tc rowSpan="2"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900" b="1" i="1" smtClean="0">
                                    <a:latin typeface="Cambria Math" panose="02040503050406030204" pitchFamily="18" charset="0"/>
                                  </a:rPr>
                                  <m:t>𝑫𝒂𝒕𝒂𝒔𝒆</m:t>
                                </m:r>
                                <m:sSub>
                                  <m:sSubPr>
                                    <m:ctrlP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900" b="1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阈值</a:t>
                          </a:r>
                        </a:p>
                      </a:txBody>
                      <a:tcPr anchor="ctr"/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0">
                    <a:tc gridSpan="3" vMerge="1"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-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1800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dirty="0"/>
                            <a:t>0.55-0.65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0.9191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0.9461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0.9660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0.9560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0.5696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0.4500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0.5028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0.8491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0.9179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0.0726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160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Topk=5 / 0.55 / 0.65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0.8710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0.9227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0.5321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0.1378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Topk=5 / 0.55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0.4216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0.5569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0.7686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0.8664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0.1358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 / 0.45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0.8477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0.8495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0.3555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0.4978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0.7368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0.8449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0.1319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 / 0.45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0.8618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0.9786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0.8670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0.9194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0.3785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0.5159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0.7536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0.8563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0.1369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Topk=100 / 0.7 / 0.8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0.9291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0.9837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0.9375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0.5748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0.6842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0.8874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0.1093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160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Topk=100 / 0.7 / 0.8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0.6915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0.8041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0.1077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1">
                <a:extLst>
                  <a:ext uri="{FF2B5EF4-FFF2-40B4-BE49-F238E27FC236}">
                    <a16:creationId xmlns:a16="http://schemas.microsoft.com/office/drawing/2014/main" id="{871212D9-35A5-40D8-88C1-888BFC771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303309"/>
                  </p:ext>
                </p:extLst>
              </p:nvPr>
            </p:nvGraphicFramePr>
            <p:xfrm>
              <a:off x="660400" y="1676472"/>
              <a:ext cx="8450053" cy="2057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4263">
                      <a:extLst>
                        <a:ext uri="{9D8B030D-6E8A-4147-A177-3AD203B41FA5}">
                          <a16:colId xmlns:a16="http://schemas.microsoft.com/office/drawing/2014/main" val="2693444544"/>
                        </a:ext>
                      </a:extLst>
                    </a:gridCol>
                    <a:gridCol w="811184">
                      <a:extLst>
                        <a:ext uri="{9D8B030D-6E8A-4147-A177-3AD203B41FA5}">
                          <a16:colId xmlns:a16="http://schemas.microsoft.com/office/drawing/2014/main" val="1958537520"/>
                        </a:ext>
                      </a:extLst>
                    </a:gridCol>
                    <a:gridCol w="648948">
                      <a:extLst>
                        <a:ext uri="{9D8B030D-6E8A-4147-A177-3AD203B41FA5}">
                          <a16:colId xmlns:a16="http://schemas.microsoft.com/office/drawing/2014/main" val="1958776690"/>
                        </a:ext>
                      </a:extLst>
                    </a:gridCol>
                    <a:gridCol w="1135658">
                      <a:extLst>
                        <a:ext uri="{9D8B030D-6E8A-4147-A177-3AD203B41FA5}">
                          <a16:colId xmlns:a16="http://schemas.microsoft.com/office/drawing/2014/main" val="326232986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56074528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79963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2596039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40576769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1944837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06396269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2252862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59050649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85940539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028229279"/>
                        </a:ext>
                      </a:extLst>
                    </a:gridCol>
                  </a:tblGrid>
                  <a:tr h="228600">
                    <a:tc rowSpan="2"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8" t="-2667" r="-342994" b="-357333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CN" altLang="en-US" sz="1000"/>
                        </a:p>
                      </a:txBody>
                      <a:tcPr anchor="ctr"/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阈值</a:t>
                          </a:r>
                        </a:p>
                      </a:txBody>
                      <a:tcPr anchor="ctr"/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模型预测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dirty="0"/>
                            <a:t>随机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9109068"/>
                      </a:ext>
                    </a:extLst>
                  </a:tr>
                  <a:tr h="228600">
                    <a:tc gridSpan="3" vMerge="1">
                      <a:txBody>
                        <a:bodyPr/>
                        <a:lstStyle/>
                        <a:p>
                          <a:pPr algn="ctr"/>
                          <a:endParaRPr lang="zh-CN" altLang="en-US" sz="900" b="1" dirty="0"/>
                        </a:p>
                      </a:txBody>
                      <a:tcPr anchor="ctr"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-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-P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-R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Acc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优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900" b="1" dirty="0"/>
                            <a:t>中</a:t>
                          </a:r>
                          <a:r>
                            <a:rPr lang="en-US" altLang="zh-CN" sz="900" b="1" dirty="0"/>
                            <a:t>-F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316580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Baseline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dirty="0"/>
                            <a:t>0.55-0.65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0.9191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0.9461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0.9660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0.9560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0.5696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0.4500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0.5028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0.8491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0.9179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0.0726</a:t>
                          </a:r>
                          <a:endParaRPr lang="zh-CN" altLang="en-US" sz="9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7041694"/>
                      </a:ext>
                    </a:extLst>
                  </a:tr>
                  <a:tr h="228600">
                    <a:tc row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BERT-Gen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标题表示取平均</a:t>
                          </a:r>
                          <a:endParaRPr lang="en-US" altLang="zh-CN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Topk=5 / 0.55 / 0.65</a:t>
                          </a:r>
                          <a:endParaRPr lang="zh-CN" altLang="en-US" sz="900" dirty="0"/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0.8673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0.8710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0.9227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0.3915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0.5321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0.7555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0.1378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6532554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dirty="0"/>
                            <a:t>Topk=5 / 0.55 / 0.65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0.8814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0.9801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0.8875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0.9315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0.4216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0.8200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0.5569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0.7686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0.8664 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0.1358 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8978609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相似度取平均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 / 0.45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0.8477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0.9804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0.8495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0.9103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0.3555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0.4978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0.7368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0.8449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0.1319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456619210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Topk=5 / 0.45 / 0.55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0.8618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0.9786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0.8670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0.9194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0.3785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0.8100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0.5159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0.7536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0.8563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0.1369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641611064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Topk</a:t>
                          </a:r>
                          <a:r>
                            <a:rPr lang="zh-CN" altLang="en-US" sz="900" b="1" dirty="0"/>
                            <a:t>相似度取最大值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CLS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Topk=100 / 0.7 / 0.8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0.9291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0.9837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0.9375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0.5748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0.8450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0.6842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0.8874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0.1093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507855189"/>
                      </a:ext>
                    </a:extLst>
                  </a:tr>
                  <a:tr h="22860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1" dirty="0"/>
                            <a:t>Last1avg</a:t>
                          </a:r>
                          <a:endParaRPr lang="zh-CN" altLang="en-US" sz="9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Topk=100 / 0.7 / 0.8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0.6915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0.8041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0.8900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0.1077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252034002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2E9DABBB-1DD2-479E-8E8C-BE1FEF990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3867294"/>
            <a:ext cx="3665415" cy="213285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24570D7-BD56-4412-B7BD-6620E6371D61}"/>
              </a:ext>
            </a:extLst>
          </p:cNvPr>
          <p:cNvSpPr txBox="1"/>
          <p:nvPr/>
        </p:nvSpPr>
        <p:spPr>
          <a:xfrm>
            <a:off x="5562879" y="4087642"/>
            <a:ext cx="4706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生成模型优于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结果差于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Last1avg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随参考作文数增加，指标提升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Topk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相似度最大值时指标最优</a:t>
            </a:r>
          </a:p>
        </p:txBody>
      </p:sp>
    </p:spTree>
    <p:extLst>
      <p:ext uri="{BB962C8B-B14F-4D97-AF65-F5344CB8AC3E}">
        <p14:creationId xmlns:p14="http://schemas.microsoft.com/office/powerpoint/2010/main" val="153601423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D182C3B-8BDB-4059-AA67-A6913D3A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Bert NSP </a:t>
            </a:r>
            <a:r>
              <a:rPr lang="zh-CN" altLang="en-US" dirty="0"/>
              <a:t>（二分类）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旧指标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3599B6-C5BD-4C61-AE2E-3A697BD2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DE22-5817-46C0-80E9-A3D6E9FBA666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955B0-EB05-493F-8AA8-EBF04519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E7336A4-2D2B-4616-96DD-2B01B576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数据集</a:t>
            </a:r>
            <a:endParaRPr lang="en-US" altLang="zh-CN" dirty="0"/>
          </a:p>
          <a:p>
            <a:pPr lvl="1"/>
            <a:r>
              <a:rPr lang="zh-CN" altLang="en-US" dirty="0"/>
              <a:t>乐乐课堂，随机替换作文标题构成离题作文</a:t>
            </a:r>
            <a:endParaRPr lang="en-US" altLang="zh-CN" dirty="0"/>
          </a:p>
          <a:p>
            <a:pPr lvl="1"/>
            <a:r>
              <a:rPr lang="en-US" altLang="zh-CN" dirty="0"/>
              <a:t>Baseline</a:t>
            </a:r>
            <a:r>
              <a:rPr lang="zh-CN" altLang="en-US" dirty="0"/>
              <a:t>：</a:t>
            </a:r>
            <a:r>
              <a:rPr lang="en-US" altLang="zh-CN" dirty="0"/>
              <a:t>BERT-Gen HT</a:t>
            </a:r>
            <a:r>
              <a:rPr lang="zh-CN" altLang="en-US" dirty="0"/>
              <a:t>方案</a:t>
            </a:r>
            <a:endParaRPr lang="en-US" altLang="zh-CN" dirty="0"/>
          </a:p>
          <a:p>
            <a:r>
              <a:rPr lang="zh-CN" altLang="en-US" dirty="0"/>
              <a:t>方案：</a:t>
            </a:r>
            <a:endParaRPr lang="en-US" altLang="zh-CN" dirty="0"/>
          </a:p>
          <a:p>
            <a:pPr lvl="1"/>
            <a:r>
              <a:rPr lang="en-US" altLang="zh-CN" dirty="0"/>
              <a:t>NSP</a:t>
            </a:r>
            <a:r>
              <a:rPr lang="zh-CN" altLang="en-US" dirty="0"/>
              <a:t>任务：</a:t>
            </a:r>
            <a:r>
              <a:rPr lang="en-US" altLang="zh-CN" dirty="0"/>
              <a:t>Title + [SEP] + Content</a:t>
            </a:r>
            <a:endParaRPr lang="zh-CN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4EEA384-51D6-443D-A21E-4BB3C92D1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671375"/>
              </p:ext>
            </p:extLst>
          </p:nvPr>
        </p:nvGraphicFramePr>
        <p:xfrm>
          <a:off x="301800" y="2892240"/>
          <a:ext cx="4104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097247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34904661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52073565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97474866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合计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798793"/>
                  </a:ext>
                </a:extLst>
              </a:tr>
              <a:tr h="252000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训练集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150000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080114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300000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36347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600000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10598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500000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250000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750000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4649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验证集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330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36991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测试集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2200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816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D5E5DAD3-B4FA-4001-A292-667A4F63B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3933100"/>
                  </p:ext>
                </p:extLst>
              </p:nvPr>
            </p:nvGraphicFramePr>
            <p:xfrm>
              <a:off x="4832520" y="2877720"/>
              <a:ext cx="6948000" cy="22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3723838307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074047020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302556104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301053040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50643026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48759105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5399303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296382096"/>
                        </a:ext>
                      </a:extLst>
                    </a:gridCol>
                  </a:tblGrid>
                  <a:tr h="324000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</a:rPr>
                                  <m:t>𝑫𝒂𝒕𝒂𝒔𝒆</m:t>
                                </m:r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568362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Acc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P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R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F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P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R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F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69986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Baseline</a:t>
                          </a:r>
                          <a:endParaRPr lang="zh-CN" altLang="en-US" sz="1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0.6915</a:t>
                          </a:r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794985024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_15W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0.9718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0.9929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0.9760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0.9844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0.7949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0.9300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>
                              <a:solidFill>
                                <a:schemeClr val="tx1"/>
                              </a:solidFill>
                            </a:rPr>
                            <a:t>0.8571</a:t>
                          </a:r>
                          <a:endParaRPr lang="zh-CN" altLang="en-US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254545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_30W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0.9359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0.9952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0.9340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0.9636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0.5913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0.9550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0.7304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324719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_60W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0.9227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0.9962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0.9185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0.9558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0.5421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0.9650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0.6942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4514352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_75W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0.9291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0.9984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0.9235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0.9595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0.5629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0.9850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0.7164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99484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D5E5DAD3-B4FA-4001-A292-667A4F63B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3933100"/>
                  </p:ext>
                </p:extLst>
              </p:nvPr>
            </p:nvGraphicFramePr>
            <p:xfrm>
              <a:off x="4832520" y="2877720"/>
              <a:ext cx="6948000" cy="226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2000">
                      <a:extLst>
                        <a:ext uri="{9D8B030D-6E8A-4147-A177-3AD203B41FA5}">
                          <a16:colId xmlns:a16="http://schemas.microsoft.com/office/drawing/2014/main" val="3723838307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074047020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302556104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301053040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50643026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487591058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153993039"/>
                        </a:ext>
                      </a:extLst>
                    </a:gridCol>
                    <a:gridCol w="828000">
                      <a:extLst>
                        <a:ext uri="{9D8B030D-6E8A-4147-A177-3AD203B41FA5}">
                          <a16:colId xmlns:a16="http://schemas.microsoft.com/office/drawing/2014/main" val="2296382096"/>
                        </a:ext>
                      </a:extLst>
                    </a:gridCol>
                  </a:tblGrid>
                  <a:tr h="3240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8" t="-1887" r="-252308" b="-60943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dirty="0"/>
                            <a:t>优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dirty="0"/>
                            <a:t>中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568362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Acc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P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R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F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P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R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F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9699867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2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Baseline</a:t>
                          </a:r>
                          <a:endParaRPr lang="zh-CN" altLang="en-US" sz="12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1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0.6915</a:t>
                          </a:r>
                          <a:r>
                            <a:rPr lang="en-US" altLang="zh-CN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794985024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_15W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0.9718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0.9929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0.9760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0.9844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0.7949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0.9300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>
                              <a:solidFill>
                                <a:schemeClr val="tx1"/>
                              </a:solidFill>
                            </a:rPr>
                            <a:t>0.8571</a:t>
                          </a:r>
                          <a:endParaRPr lang="zh-CN" altLang="en-US" sz="1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254545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_30W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0.9359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0.9952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0.9340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0.9636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0.5913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0.9550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0.7304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3247193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_60W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0.9227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0.9962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0.9185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0.9558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0.5421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0.9650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0.6942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45143528"/>
                      </a:ext>
                    </a:extLst>
                  </a:tr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200" b="1" dirty="0"/>
                            <a:t>训练集</a:t>
                          </a:r>
                          <a:r>
                            <a:rPr lang="en-US" altLang="zh-CN" sz="1200" b="1" dirty="0"/>
                            <a:t>_75W</a:t>
                          </a:r>
                          <a:endParaRPr lang="zh-CN" alt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0.9291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0.9984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0.9235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0.9595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0.5629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0.9850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dirty="0">
                              <a:solidFill>
                                <a:schemeClr val="tx1"/>
                              </a:solidFill>
                            </a:rPr>
                            <a:t>0.7164</a:t>
                          </a:r>
                          <a:endParaRPr lang="zh-CN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99484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FE3075E-1D54-4DFA-8AA4-82D3A9D3279E}"/>
              </a:ext>
            </a:extLst>
          </p:cNvPr>
          <p:cNvSpPr txBox="1"/>
          <p:nvPr/>
        </p:nvSpPr>
        <p:spPr>
          <a:xfrm>
            <a:off x="574040" y="5325107"/>
            <a:ext cx="107797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分类结果优于无监督方案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C35910-5F4F-4BB5-8E12-6A813613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653" y="395653"/>
            <a:ext cx="3432247" cy="23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7850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45426-9E03-4FD0-BC9B-10D58387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 Sum Reader(AS Reader,</a:t>
            </a:r>
            <a:r>
              <a:rPr lang="zh-CN" altLang="en-US" dirty="0"/>
              <a:t>旧指标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51F7C-1910-4512-8186-5C34C5E8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数据集</a:t>
            </a:r>
            <a:endParaRPr lang="en-US" altLang="zh-CN" dirty="0"/>
          </a:p>
          <a:p>
            <a:pPr lvl="1"/>
            <a:r>
              <a:rPr lang="zh-CN" altLang="en-US" dirty="0"/>
              <a:t>乐乐课堂，随机替换作文标题构成离题作文</a:t>
            </a:r>
            <a:endParaRPr lang="en-US" altLang="zh-CN" dirty="0"/>
          </a:p>
          <a:p>
            <a:pPr lvl="1"/>
            <a:r>
              <a:rPr lang="en-US" altLang="zh-CN" dirty="0"/>
              <a:t>Baseline</a:t>
            </a:r>
            <a:r>
              <a:rPr lang="zh-CN" altLang="en-US" dirty="0"/>
              <a:t>：</a:t>
            </a:r>
            <a:r>
              <a:rPr lang="en-US" altLang="zh-CN" dirty="0"/>
              <a:t>BERT-HT</a:t>
            </a:r>
            <a:r>
              <a:rPr lang="zh-CN" altLang="en-US" dirty="0"/>
              <a:t>和</a:t>
            </a:r>
            <a:r>
              <a:rPr lang="en-US" altLang="zh-CN" dirty="0"/>
              <a:t>BERT-NSP</a:t>
            </a:r>
          </a:p>
          <a:p>
            <a:r>
              <a:rPr lang="zh-CN" altLang="en-US" dirty="0"/>
              <a:t>方案：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71EA2A12-FA10-4E73-A765-D8F36DD830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165997"/>
                  </p:ext>
                </p:extLst>
              </p:nvPr>
            </p:nvGraphicFramePr>
            <p:xfrm>
              <a:off x="3774000" y="2652635"/>
              <a:ext cx="4644000" cy="230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900" b="1" i="1" smtClean="0">
                                    <a:latin typeface="Cambria Math" panose="02040503050406030204" pitchFamily="18" charset="0"/>
                                  </a:rPr>
                                  <m:t>𝑫𝒂𝒕𝒂𝒔𝒆</m:t>
                                </m:r>
                                <m:sSub>
                                  <m:sSubPr>
                                    <m:ctrlP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9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900" b="1" dirty="0"/>
                        </a:p>
                      </a:txBody>
                      <a:tcPr marL="4763" marR="4763" marT="4763" marB="0" anchor="ctr">
                        <a:solidFill>
                          <a:srgbClr val="FF00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BERT-HT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0.6915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2035367870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BERT-NSP(15W)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0.9718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0.9929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0.9760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0.9844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0.7949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0.8571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046520648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0.9091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0.9220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0.9486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0.6094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0.9209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0.9872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0.9551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0.5399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0.6692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0.9812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0.9405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0.9604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0.6791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Reader(75W)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0.6929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71EA2A12-FA10-4E73-A765-D8F36DD830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165997"/>
                  </p:ext>
                </p:extLst>
              </p:nvPr>
            </p:nvGraphicFramePr>
            <p:xfrm>
              <a:off x="3774000" y="2652635"/>
              <a:ext cx="4644000" cy="230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69933530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0300145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716971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41373560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43674419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33136945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65282157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707627186"/>
                        </a:ext>
                      </a:extLst>
                    </a:gridCol>
                  </a:tblGrid>
                  <a:tr h="28800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63" marR="4763" marT="4763" marB="0" anchor="ctr">
                        <a:blipFill>
                          <a:blip r:embed="rId2"/>
                          <a:stretch>
                            <a:fillRect l="-435" t="-2128" r="-233478" b="-71063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优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zh-CN" alt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等线" panose="02010600030101010101" pitchFamily="2" charset="-122"/>
                            </a:rPr>
                            <a:t>中</a:t>
                          </a:r>
                        </a:p>
                      </a:txBody>
                      <a:tcPr marL="4763" marR="4763" marT="4763" marB="0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23149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endParaRPr lang="zh-CN" altLang="en-US" sz="9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Acc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P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R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F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13275051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BERT-HT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0.9323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0.5901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0.6915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2035367870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BERT-NSP(15W)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0.9718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0.9929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0.9760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0.9844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0.7949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0.9300 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0.8571 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4046520648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AS Reader(15W)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0.9091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0.9767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0.9220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0.9486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0.5000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0.7800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0.6094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27803872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</a:t>
                          </a:r>
                          <a:r>
                            <a:rPr lang="en-US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30</a:t>
                          </a:r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0.9209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0.9872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0.9551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0.5399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0.8800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0.6692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085764972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Reader(60W)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0.9295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0.9812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0.9405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0.9604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0.5795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0.8200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0.6791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336453145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+mn-ea"/>
                            </a:rPr>
                            <a:t>AS Reader(75W)</a:t>
                          </a:r>
                          <a:endParaRPr lang="en-US" sz="9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</a:endParaRP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0.9327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0.9828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0.9425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0.9622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0.5922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0.8350</a:t>
                          </a:r>
                        </a:p>
                      </a:txBody>
                      <a:tcPr marL="4763" marR="4763" marT="4763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等线" panose="02010600030101010101" pitchFamily="2" charset="-122"/>
                              <a:ea typeface="等线" panose="02010600030101010101" pitchFamily="2" charset="-122"/>
                            </a:rPr>
                            <a:t>0.6929</a:t>
                          </a:r>
                        </a:p>
                      </a:txBody>
                      <a:tcPr marL="4763" marR="4763" marT="4763" marB="0" anchor="ctr"/>
                    </a:tc>
                    <a:extLst>
                      <a:ext uri="{0D108BD9-81ED-4DB2-BD59-A6C34878D82A}">
                        <a16:rowId xmlns:a16="http://schemas.microsoft.com/office/drawing/2014/main" val="13826500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E9BAFF74-E3BA-45DF-B6AC-8399279887E5}"/>
              </a:ext>
            </a:extLst>
          </p:cNvPr>
          <p:cNvSpPr txBox="1"/>
          <p:nvPr/>
        </p:nvSpPr>
        <p:spPr>
          <a:xfrm>
            <a:off x="582832" y="5537846"/>
            <a:ext cx="1077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BERT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分类结果最优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C488C5-CEBB-4B9D-813E-ADBE9CCD5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006" y="153135"/>
            <a:ext cx="5502586" cy="23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2416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5594487-52FE-4CA6-A5FB-8BF588AB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指标更新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同步作文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(6000) /2021.06.11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1509D-759B-4325-BE57-F49C5B72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E048-3FBB-4D0D-A841-C8A944B53E47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22195-7517-4C66-9550-C5E18A74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7DE6E1E9-C670-4DF3-B801-29CA09F21741}"/>
              </a:ext>
            </a:extLst>
          </p:cNvPr>
          <p:cNvGraphicFramePr>
            <a:graphicFrameLocks noGrp="1"/>
          </p:cNvGraphicFramePr>
          <p:nvPr/>
        </p:nvGraphicFramePr>
        <p:xfrm>
          <a:off x="343174" y="2141274"/>
          <a:ext cx="11505652" cy="235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52">
                  <a:extLst>
                    <a:ext uri="{9D8B030D-6E8A-4147-A177-3AD203B41FA5}">
                      <a16:colId xmlns:a16="http://schemas.microsoft.com/office/drawing/2014/main" val="847184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199007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3968163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7931962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76300160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858229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7754963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87608489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25338512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61819834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6460969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01963624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2731982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6935602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5341135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3817809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8001117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02262642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95604764"/>
                    </a:ext>
                  </a:extLst>
                </a:gridCol>
              </a:tblGrid>
              <a:tr h="2520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solidFill>
                            <a:schemeClr val="bg1"/>
                          </a:solidFill>
                        </a:rPr>
                        <a:t>199+208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</a:rPr>
                        <a:t>篇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阈值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1-</a:t>
                      </a:r>
                      <a:r>
                        <a:rPr lang="zh-CN" altLang="en-US" sz="1000" dirty="0"/>
                        <a:t>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2-</a:t>
                      </a:r>
                      <a:r>
                        <a:rPr lang="zh-CN" altLang="en-US" sz="1000" dirty="0"/>
                        <a:t>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1-</a:t>
                      </a:r>
                      <a:r>
                        <a:rPr lang="zh-CN" altLang="en-US" sz="1000" dirty="0"/>
                        <a:t>机</a:t>
                      </a:r>
                      <a:r>
                        <a:rPr lang="en-US" altLang="zh-CN" sz="1000" dirty="0"/>
                        <a:t>-</a:t>
                      </a:r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平均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仲裁</a:t>
                      </a:r>
                      <a:r>
                        <a:rPr lang="en-US" altLang="zh-CN" sz="1000" dirty="0"/>
                        <a:t>-</a:t>
                      </a:r>
                      <a:r>
                        <a:rPr lang="zh-CN" altLang="en-US" sz="1000" dirty="0"/>
                        <a:t>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随机</a:t>
                      </a:r>
                      <a:r>
                        <a:rPr lang="en-US" altLang="zh-CN" sz="1000" dirty="0"/>
                        <a:t>baseline</a:t>
                      </a:r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87468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673532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Baseline</a:t>
                      </a:r>
                      <a:endParaRPr lang="zh-CN" altLang="en-US" sz="1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0.75-0.85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0.4668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0.3934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0.1351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0.4595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0.3672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0.1744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0.4632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0.3803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0.1548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0.4717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0.3845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0.1376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0.3980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0.3130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0.1916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816808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topk</a:t>
                      </a:r>
                      <a:r>
                        <a:rPr lang="zh-CN" altLang="en-US" sz="800" b="1" dirty="0"/>
                        <a:t>标题表示取平均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CLS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0.55-0.70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0.4865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0.4585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0.0811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0.4816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0.4543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0.1130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0.4841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0.4564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0.0971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0.4816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0.4537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0.0934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0.3268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0.3011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0.2187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7474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Last1avg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Topk=20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0.50-0.60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0.4816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0.4494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0.0663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0.4693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0.4431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0.0909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0.4755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0.4463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0.0786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0.4889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0.4604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0.0713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0.3342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0.3057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0.1769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962033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topk</a:t>
                      </a:r>
                      <a:r>
                        <a:rPr lang="zh-CN" altLang="en-US" sz="800" b="1" dirty="0"/>
                        <a:t>相似度取平均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CLS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0.35-0.50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0.4889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0.4457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0.0835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0.4865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0.4459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0.1130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0.4877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0.4458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0.0983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0.5209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0.4839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0.0885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0.3661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0.3322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0.1843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167248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Last1avg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Topk=15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0.35-0.50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0.5086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0.4599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0.0786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0.4816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0.4410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0.1130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0.4951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0.4505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0.0958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0.5160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0.4754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0.0835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0.5160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0.4754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0.0835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451824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topk</a:t>
                      </a:r>
                      <a:r>
                        <a:rPr lang="zh-CN" altLang="en-US" sz="800" b="1" dirty="0"/>
                        <a:t>相似度取</a:t>
                      </a:r>
                      <a:r>
                        <a:rPr lang="en-US" altLang="zh-CN" sz="800" b="1" dirty="0"/>
                        <a:t>max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CLS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0.45-0.65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0.5356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0.4793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0.0663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0.5258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0.4643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0.1032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0.5307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0.4718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0.0848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0.5553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0.4944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0.0737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0.3563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0.3132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0.1892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96473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Last1avg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Topk=15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0.50-0.80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0.5307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0.4849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0.0565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0.5111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0.4722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0.0885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0.5209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0.4786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0.0725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0.5602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0.5165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0.0737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0.3317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0.2913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0.1794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114885"/>
                  </a:ext>
                </a:extLst>
              </a:tr>
            </a:tbl>
          </a:graphicData>
        </a:graphic>
      </p:graphicFrame>
      <p:graphicFrame>
        <p:nvGraphicFramePr>
          <p:cNvPr id="2" name="表格 6">
            <a:extLst>
              <a:ext uri="{FF2B5EF4-FFF2-40B4-BE49-F238E27FC236}">
                <a16:creationId xmlns:a16="http://schemas.microsoft.com/office/drawing/2014/main" id="{8FF53AB9-E6AD-433C-969A-76532901F3DF}"/>
              </a:ext>
            </a:extLst>
          </p:cNvPr>
          <p:cNvGraphicFramePr>
            <a:graphicFrameLocks noGrp="1"/>
          </p:cNvGraphicFramePr>
          <p:nvPr/>
        </p:nvGraphicFramePr>
        <p:xfrm>
          <a:off x="7650398" y="1291530"/>
          <a:ext cx="36000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96705052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3038756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58690018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804737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1-</a:t>
                      </a:r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2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</a:t>
                      </a:r>
                      <a:endParaRPr lang="zh-CN" alt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Marco-F1</a:t>
                      </a:r>
                      <a:endParaRPr lang="zh-CN" alt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跨二档率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7027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0.6855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0.6265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0.0172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253967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C64277E-F7BB-4F29-BCA8-9F1C2BA93BBC}"/>
              </a:ext>
            </a:extLst>
          </p:cNvPr>
          <p:cNvSpPr txBox="1"/>
          <p:nvPr/>
        </p:nvSpPr>
        <p:spPr>
          <a:xfrm>
            <a:off x="660401" y="5255622"/>
            <a:ext cx="543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结论：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BERT-Gen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方案优于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BERT-Gen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方案取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max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时结果最优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C729F3-211A-4ECA-920A-B0410CC0C37B}"/>
              </a:ext>
            </a:extLst>
          </p:cNvPr>
          <p:cNvSpPr txBox="1"/>
          <p:nvPr/>
        </p:nvSpPr>
        <p:spPr>
          <a:xfrm>
            <a:off x="4129742" y="5255622"/>
            <a:ext cx="543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方案指标优于随机指标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取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Last1avg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结果优于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CLS</a:t>
            </a:r>
          </a:p>
        </p:txBody>
      </p:sp>
    </p:spTree>
    <p:extLst>
      <p:ext uri="{BB962C8B-B14F-4D97-AF65-F5344CB8AC3E}">
        <p14:creationId xmlns:p14="http://schemas.microsoft.com/office/powerpoint/2010/main" val="200929938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5594487-52FE-4CA6-A5FB-8BF588AB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指标更新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乐乐课堂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(1W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/2021.06.11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1509D-759B-4325-BE57-F49C5B72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E048-3FBB-4D0D-A841-C8A944B53E47}" type="datetime1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22195-7517-4C66-9550-C5E18A74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1D78-0A40-4D03-B985-D57555307C30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7DE6E1E9-C670-4DF3-B801-29CA09F21741}"/>
              </a:ext>
            </a:extLst>
          </p:cNvPr>
          <p:cNvGraphicFramePr>
            <a:graphicFrameLocks noGrp="1"/>
          </p:cNvGraphicFramePr>
          <p:nvPr/>
        </p:nvGraphicFramePr>
        <p:xfrm>
          <a:off x="343174" y="2133600"/>
          <a:ext cx="11505652" cy="235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52">
                  <a:extLst>
                    <a:ext uri="{9D8B030D-6E8A-4147-A177-3AD203B41FA5}">
                      <a16:colId xmlns:a16="http://schemas.microsoft.com/office/drawing/2014/main" val="8471843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199007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3968163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7931962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76300160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858229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7754963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87608489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25338512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61819834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6460969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01963624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2731982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6935602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5341135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3817809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8001117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02262642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95604764"/>
                    </a:ext>
                  </a:extLst>
                </a:gridCol>
              </a:tblGrid>
              <a:tr h="252000">
                <a:tc gridSpan="3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阈值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1-</a:t>
                      </a:r>
                      <a:r>
                        <a:rPr lang="zh-CN" altLang="en-US" sz="1000" dirty="0"/>
                        <a:t>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2-</a:t>
                      </a:r>
                      <a:r>
                        <a:rPr lang="zh-CN" altLang="en-US" sz="1000" dirty="0"/>
                        <a:t>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1-</a:t>
                      </a:r>
                      <a:r>
                        <a:rPr lang="zh-CN" altLang="en-US" sz="1000" dirty="0"/>
                        <a:t>机</a:t>
                      </a:r>
                      <a:r>
                        <a:rPr lang="en-US" altLang="zh-CN" sz="1000" dirty="0"/>
                        <a:t>-</a:t>
                      </a:r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平均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仲裁</a:t>
                      </a:r>
                      <a:r>
                        <a:rPr lang="en-US" altLang="zh-CN" sz="1000" dirty="0"/>
                        <a:t>-</a:t>
                      </a:r>
                      <a:r>
                        <a:rPr lang="zh-CN" altLang="en-US" sz="1000" dirty="0"/>
                        <a:t>机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随机</a:t>
                      </a:r>
                      <a:r>
                        <a:rPr lang="en-US" altLang="zh-CN" sz="1000" dirty="0"/>
                        <a:t>baseline</a:t>
                      </a:r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87468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ACC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Marco-F1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跨二档率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673532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Baseline</a:t>
                      </a:r>
                      <a:endParaRPr lang="zh-CN" altLang="en-US" sz="1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0.75-0.85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0.4668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0.3934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0.1351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0.4595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0.3672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0.1744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0.4632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0.3803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0.1548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0.4717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0.3845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0.1376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0.3980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0.3130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0.1916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816808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topk</a:t>
                      </a:r>
                      <a:r>
                        <a:rPr lang="zh-CN" altLang="en-US" sz="800" b="1" dirty="0"/>
                        <a:t>标题表示取平均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CLS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0.45-0.55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0.4251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0.3657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0.1499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0.4398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0.3696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0.1720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0.4325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0.3677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0.1610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0.4644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0.4032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0.1523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0.3661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0.3072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0.2113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7474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Last1avg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0.45-0.55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0.4324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0.3234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0.1474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0.4717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0.3565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0.1794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0.4521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0.3400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0.1634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0.4619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0.3456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0.1499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0.4152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0.3051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0.1916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962033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topk</a:t>
                      </a:r>
                      <a:r>
                        <a:rPr lang="zh-CN" altLang="en-US" sz="800" b="1" dirty="0"/>
                        <a:t>相似度取平均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CLS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Topk=15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0.45-0.60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0.4570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0.3506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0.1376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0.4619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0.3490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0.1695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0.4595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0.3498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0.1536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0.4644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0.3473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0.1425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0.4054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0.3000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0.1720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167248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Last1avg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0.30-0.40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0.4373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0.3275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0.1327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0.4570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0.3360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0.1695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0.4472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0.3318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0.1511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0.4570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0.3312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0.1450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0.4152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0.3066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0.1671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451824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800" b="1" dirty="0"/>
                        <a:t>topk</a:t>
                      </a:r>
                      <a:r>
                        <a:rPr lang="zh-CN" altLang="en-US" sz="800" b="1" dirty="0"/>
                        <a:t>相似度取</a:t>
                      </a:r>
                      <a:r>
                        <a:rPr lang="en-US" altLang="zh-CN" sz="800" b="1" dirty="0"/>
                        <a:t>max</a:t>
                      </a:r>
                      <a:endParaRPr lang="zh-CN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CLS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Topk=15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0.45-0.60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0.4423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0.3548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0.1302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0.4521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0.3664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0.1572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0.4472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0.3606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0.1437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0.4668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0.3788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0.1327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0.3612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0.2758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0.1794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96473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algn="ctr"/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Last1avg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/>
                        <a:t>Topk=5</a:t>
                      </a:r>
                      <a:endParaRPr lang="zh-CN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0.40-0.60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0.4324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0.3608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0.0934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0.4152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0.3627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0.1179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0.4238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0.3618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0.1057 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0.4521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0.3919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0.0958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0.3538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 dirty="0">
                          <a:solidFill>
                            <a:schemeClr val="tx1"/>
                          </a:solidFill>
                        </a:rPr>
                        <a:t>0.2940</a:t>
                      </a:r>
                      <a:endParaRPr lang="zh-CN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0.1400</a:t>
                      </a:r>
                      <a:endParaRPr lang="zh-CN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11488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3786BDF-FC56-4B5D-9A6C-80089D1950EE}"/>
              </a:ext>
            </a:extLst>
          </p:cNvPr>
          <p:cNvSpPr txBox="1"/>
          <p:nvPr/>
        </p:nvSpPr>
        <p:spPr>
          <a:xfrm>
            <a:off x="660401" y="5255622"/>
            <a:ext cx="543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结论：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BERT-Gen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方案优于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BERT-Gen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方案表示取平均时结果最优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较同步作文指标差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225893-48F6-4979-917C-CDCC47C56105}"/>
              </a:ext>
            </a:extLst>
          </p:cNvPr>
          <p:cNvSpPr txBox="1"/>
          <p:nvPr/>
        </p:nvSpPr>
        <p:spPr>
          <a:xfrm>
            <a:off x="4129742" y="5255622"/>
            <a:ext cx="543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方案指标优于随机指标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取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Last1avg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结果优于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CLS</a:t>
            </a:r>
          </a:p>
        </p:txBody>
      </p:sp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0B234832-6038-47C0-BB14-E1948B15F2A2}"/>
              </a:ext>
            </a:extLst>
          </p:cNvPr>
          <p:cNvGraphicFramePr>
            <a:graphicFrameLocks noGrp="1"/>
          </p:cNvGraphicFramePr>
          <p:nvPr/>
        </p:nvGraphicFramePr>
        <p:xfrm>
          <a:off x="7254352" y="1369371"/>
          <a:ext cx="36000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96705052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3038756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58690018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804737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1-</a:t>
                      </a:r>
                      <a:r>
                        <a:rPr lang="zh-CN" altLang="en-US" sz="1000" dirty="0"/>
                        <a:t>人</a:t>
                      </a:r>
                      <a:r>
                        <a:rPr lang="en-US" altLang="zh-CN" sz="1000" dirty="0"/>
                        <a:t>2</a:t>
                      </a:r>
                      <a:endParaRPr lang="zh-CN" altLang="en-US" sz="100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</a:t>
                      </a:r>
                      <a:endParaRPr lang="zh-CN" alt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Marco-F1</a:t>
                      </a:r>
                      <a:endParaRPr lang="zh-CN" alt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跨二档率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7027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0.6855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0.6265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0.0172</a:t>
                      </a:r>
                      <a:endParaRPr lang="zh-CN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253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5830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10252</TotalTime>
  <Words>4720</Words>
  <Application>Microsoft Office PowerPoint</Application>
  <PresentationFormat>宽屏</PresentationFormat>
  <Paragraphs>2597</Paragraphs>
  <Slides>29</Slides>
  <Notes>3</Notes>
  <HiddenSlides>20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等线 Light</vt:lpstr>
      <vt:lpstr>宋体</vt:lpstr>
      <vt:lpstr>微软雅黑</vt:lpstr>
      <vt:lpstr>Arial</vt:lpstr>
      <vt:lpstr>Cambria Math</vt:lpstr>
      <vt:lpstr>Wingdings</vt:lpstr>
      <vt:lpstr>Office 主题​​</vt:lpstr>
      <vt:lpstr>PowerPoint 演示文稿</vt:lpstr>
      <vt:lpstr>本周工作</vt:lpstr>
      <vt:lpstr>标题-正文匹配任务明确</vt:lpstr>
      <vt:lpstr>通用/同步场景离题检测方案</vt:lpstr>
      <vt:lpstr>测试集标注情况</vt:lpstr>
      <vt:lpstr>习作要求-作文信息统计（粗略统计）</vt:lpstr>
      <vt:lpstr>BASELINE方案图</vt:lpstr>
      <vt:lpstr>BERT-Gen HT 方案图 .V3</vt:lpstr>
      <vt:lpstr>数据集（三档）</vt:lpstr>
      <vt:lpstr>三档数据集构建方案</vt:lpstr>
      <vt:lpstr>指标更新</vt:lpstr>
      <vt:lpstr>指标更新</vt:lpstr>
      <vt:lpstr>数据集（两档）</vt:lpstr>
      <vt:lpstr>指标更新</vt:lpstr>
      <vt:lpstr>指标更新</vt:lpstr>
      <vt:lpstr>下一步工作计划</vt:lpstr>
      <vt:lpstr>BERT-Gen HT(两档)</vt:lpstr>
      <vt:lpstr>Bert NSP (两档)</vt:lpstr>
      <vt:lpstr>Attention Sum Reader(AS Reader，词向量)</vt:lpstr>
      <vt:lpstr>BERT-Gen HT(三档)</vt:lpstr>
      <vt:lpstr>PowerPoint 演示文稿</vt:lpstr>
      <vt:lpstr>Attention Sum Reader(AS Reader，字向量)</vt:lpstr>
      <vt:lpstr>Dataset_1</vt:lpstr>
      <vt:lpstr>Argument</vt:lpstr>
      <vt:lpstr>BERT-Gen HT（旧指标）</vt:lpstr>
      <vt:lpstr>Bert NSP （二分类）(旧指标)</vt:lpstr>
      <vt:lpstr>Attention Sum Reader(AS Reader,旧指标)</vt:lpstr>
      <vt:lpstr>指标更新-同步作文(6000) /2021.06.11</vt:lpstr>
      <vt:lpstr>指标更新-乐乐课堂(1W)/2021.06.11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雅</dc:creator>
  <cp:lastModifiedBy>Qu yuanbin</cp:lastModifiedBy>
  <cp:revision>800</cp:revision>
  <dcterms:created xsi:type="dcterms:W3CDTF">2021-05-21T02:41:01Z</dcterms:created>
  <dcterms:modified xsi:type="dcterms:W3CDTF">2021-07-08T06:49:56Z</dcterms:modified>
</cp:coreProperties>
</file>